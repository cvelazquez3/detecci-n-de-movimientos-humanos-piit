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2399288" cy="43200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6" userDrawn="1">
          <p15:clr>
            <a:srgbClr val="A4A3A4"/>
          </p15:clr>
        </p15:guide>
        <p15:guide id="2" pos="102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B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93" autoAdjust="0"/>
    <p:restoredTop sz="94660"/>
  </p:normalViewPr>
  <p:slideViewPr>
    <p:cSldViewPr snapToGrid="0">
      <p:cViewPr>
        <p:scale>
          <a:sx n="27" d="100"/>
          <a:sy n="27" d="100"/>
        </p:scale>
        <p:origin x="1248" y="-3600"/>
      </p:cViewPr>
      <p:guideLst>
        <p:guide orient="horz" pos="13606"/>
        <p:guide pos="102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429947" y="7070108"/>
            <a:ext cx="27539395" cy="15040222"/>
          </a:xfrm>
        </p:spPr>
        <p:txBody>
          <a:bodyPr anchor="b"/>
          <a:lstStyle>
            <a:lvl1pPr algn="ctr">
              <a:defRPr sz="21259"/>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4049911" y="22690338"/>
            <a:ext cx="24299466" cy="10430151"/>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6A247A4-B290-419D-9DCB-8D23B210FFBF}" type="datetimeFigureOut">
              <a:rPr lang="es-MX" smtClean="0"/>
              <a:t>22/07/2026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1545644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6A247A4-B290-419D-9DCB-8D23B210FFBF}" type="datetimeFigureOut">
              <a:rPr lang="es-MX" smtClean="0"/>
              <a:t>22/07/2026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603264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210578" y="10770172"/>
            <a:ext cx="27944386" cy="17970262"/>
          </a:xfrm>
        </p:spPr>
        <p:txBody>
          <a:bodyPr anchor="b"/>
          <a:lstStyle>
            <a:lvl1pPr>
              <a:defRPr sz="21259"/>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210578" y="28910440"/>
            <a:ext cx="27944386" cy="9450136"/>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6A247A4-B290-419D-9DCB-8D23B210FFBF}" type="datetimeFigureOut">
              <a:rPr lang="es-MX" smtClean="0"/>
              <a:t>22/07/2026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2451090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227451" y="11500170"/>
            <a:ext cx="13769697" cy="2741040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6402140" y="11500170"/>
            <a:ext cx="13769697" cy="2741040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6A247A4-B290-419D-9DCB-8D23B210FFBF}" type="datetimeFigureOut">
              <a:rPr lang="es-MX" smtClean="0"/>
              <a:t>22/07/2026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2987005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231671" y="2300044"/>
            <a:ext cx="27944386" cy="835012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675" y="10590160"/>
            <a:ext cx="13706415"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s-ES"/>
              <a:t>Haga clic para modificar los estilos de texto del patrón</a:t>
            </a:r>
          </a:p>
        </p:txBody>
      </p:sp>
      <p:sp>
        <p:nvSpPr>
          <p:cNvPr id="4" name="Content Placeholder 3"/>
          <p:cNvSpPr>
            <a:spLocks noGrp="1"/>
          </p:cNvSpPr>
          <p:nvPr>
            <p:ph sz="half" idx="2"/>
          </p:nvPr>
        </p:nvSpPr>
        <p:spPr>
          <a:xfrm>
            <a:off x="2231675" y="15780233"/>
            <a:ext cx="13706415" cy="2321034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6402142" y="10590160"/>
            <a:ext cx="13773917"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s-ES"/>
              <a:t>Haga clic para modificar los estilos de texto del patrón</a:t>
            </a:r>
          </a:p>
        </p:txBody>
      </p:sp>
      <p:sp>
        <p:nvSpPr>
          <p:cNvPr id="6" name="Content Placeholder 5"/>
          <p:cNvSpPr>
            <a:spLocks noGrp="1"/>
          </p:cNvSpPr>
          <p:nvPr>
            <p:ph sz="quarter" idx="4"/>
          </p:nvPr>
        </p:nvSpPr>
        <p:spPr>
          <a:xfrm>
            <a:off x="16402142" y="15780233"/>
            <a:ext cx="13773917" cy="2321034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6A247A4-B290-419D-9DCB-8D23B210FFBF}" type="datetimeFigureOut">
              <a:rPr lang="es-MX" smtClean="0"/>
              <a:t>22/07/2026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3348861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96A247A4-B290-419D-9DCB-8D23B210FFBF}" type="datetimeFigureOut">
              <a:rPr lang="es-MX" smtClean="0"/>
              <a:t>22/07/2026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3374338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A247A4-B290-419D-9DCB-8D23B210FFBF}" type="datetimeFigureOut">
              <a:rPr lang="es-MX" smtClean="0"/>
              <a:t>22/07/2026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3625694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es-ES"/>
              <a:t>Haga clic para modificar el estilo de título del patrón</a:t>
            </a:r>
            <a:endParaRPr lang="en-US" dirty="0"/>
          </a:p>
        </p:txBody>
      </p:sp>
      <p:sp>
        <p:nvSpPr>
          <p:cNvPr id="3" name="Content Placeholder 2"/>
          <p:cNvSpPr>
            <a:spLocks noGrp="1"/>
          </p:cNvSpPr>
          <p:nvPr>
            <p:ph idx="1"/>
          </p:nvPr>
        </p:nvSpPr>
        <p:spPr>
          <a:xfrm>
            <a:off x="13773917" y="6220102"/>
            <a:ext cx="16402140" cy="30700453"/>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6A247A4-B290-419D-9DCB-8D23B210FFBF}" type="datetimeFigureOut">
              <a:rPr lang="es-MX" smtClean="0"/>
              <a:t>22/07/2026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124970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773917" y="6220102"/>
            <a:ext cx="16402140" cy="30700453"/>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6A247A4-B290-419D-9DCB-8D23B210FFBF}" type="datetimeFigureOut">
              <a:rPr lang="es-MX" smtClean="0"/>
              <a:t>22/07/2026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1253549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6A247A4-B290-419D-9DCB-8D23B210FFBF}" type="datetimeFigureOut">
              <a:rPr lang="es-MX" smtClean="0"/>
              <a:t>22/07/2026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1393110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185742" y="2300034"/>
            <a:ext cx="6986096" cy="3661054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27453" y="2300034"/>
            <a:ext cx="20553298" cy="3661054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6A247A4-B290-419D-9DCB-8D23B210FFBF}" type="datetimeFigureOut">
              <a:rPr lang="es-MX" smtClean="0"/>
              <a:t>22/07/2026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84F36C1-8E51-4AD7-8D78-B52F5D99E61C}" type="slidenum">
              <a:rPr lang="es-MX" smtClean="0"/>
              <a:t>‹Nº›</a:t>
            </a:fld>
            <a:endParaRPr lang="es-MX"/>
          </a:p>
        </p:txBody>
      </p:sp>
    </p:spTree>
    <p:extLst>
      <p:ext uri="{BB962C8B-B14F-4D97-AF65-F5344CB8AC3E}">
        <p14:creationId xmlns:p14="http://schemas.microsoft.com/office/powerpoint/2010/main" val="3252163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451" y="2300044"/>
            <a:ext cx="27944386" cy="835012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27451" y="11500170"/>
            <a:ext cx="27944386" cy="2741040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227451" y="40040601"/>
            <a:ext cx="7289840" cy="2300034"/>
          </a:xfrm>
          <a:prstGeom prst="rect">
            <a:avLst/>
          </a:prstGeom>
        </p:spPr>
        <p:txBody>
          <a:bodyPr vert="horz" lIns="91440" tIns="45720" rIns="91440" bIns="45720" rtlCol="0" anchor="ctr"/>
          <a:lstStyle>
            <a:lvl1pPr algn="l">
              <a:defRPr sz="4252">
                <a:solidFill>
                  <a:schemeClr val="tx1">
                    <a:tint val="75000"/>
                  </a:schemeClr>
                </a:solidFill>
              </a:defRPr>
            </a:lvl1pPr>
          </a:lstStyle>
          <a:p>
            <a:fld id="{96A247A4-B290-419D-9DCB-8D23B210FFBF}" type="datetimeFigureOut">
              <a:rPr lang="es-MX" smtClean="0"/>
              <a:t>22/07/2026</a:t>
            </a:fld>
            <a:endParaRPr lang="es-MX"/>
          </a:p>
        </p:txBody>
      </p:sp>
      <p:sp>
        <p:nvSpPr>
          <p:cNvPr id="5" name="Footer Placeholder 4"/>
          <p:cNvSpPr>
            <a:spLocks noGrp="1"/>
          </p:cNvSpPr>
          <p:nvPr>
            <p:ph type="ftr" sz="quarter" idx="3"/>
          </p:nvPr>
        </p:nvSpPr>
        <p:spPr>
          <a:xfrm>
            <a:off x="10732264" y="40040601"/>
            <a:ext cx="10934760" cy="2300034"/>
          </a:xfrm>
          <a:prstGeom prst="rect">
            <a:avLst/>
          </a:prstGeom>
        </p:spPr>
        <p:txBody>
          <a:bodyPr vert="horz" lIns="91440" tIns="45720" rIns="91440" bIns="45720" rtlCol="0" anchor="ctr"/>
          <a:lstStyle>
            <a:lvl1pPr algn="ctr">
              <a:defRPr sz="4252">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22881997" y="40040601"/>
            <a:ext cx="7289840" cy="2300034"/>
          </a:xfrm>
          <a:prstGeom prst="rect">
            <a:avLst/>
          </a:prstGeom>
        </p:spPr>
        <p:txBody>
          <a:bodyPr vert="horz" lIns="91440" tIns="45720" rIns="91440" bIns="45720" rtlCol="0" anchor="ctr"/>
          <a:lstStyle>
            <a:lvl1pPr algn="r">
              <a:defRPr sz="4252">
                <a:solidFill>
                  <a:schemeClr val="tx1">
                    <a:tint val="75000"/>
                  </a:schemeClr>
                </a:solidFill>
              </a:defRPr>
            </a:lvl1pPr>
          </a:lstStyle>
          <a:p>
            <a:fld id="{A84F36C1-8E51-4AD7-8D78-B52F5D99E61C}" type="slidenum">
              <a:rPr lang="es-MX" smtClean="0"/>
              <a:t>‹Nº›</a:t>
            </a:fld>
            <a:endParaRPr lang="es-MX"/>
          </a:p>
        </p:txBody>
      </p:sp>
    </p:spTree>
    <p:extLst>
      <p:ext uri="{BB962C8B-B14F-4D97-AF65-F5344CB8AC3E}">
        <p14:creationId xmlns:p14="http://schemas.microsoft.com/office/powerpoint/2010/main" val="2101800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18" Type="http://schemas.openxmlformats.org/officeDocument/2006/relationships/image" Target="../media/image13.png"/><Relationship Id="rId3" Type="http://schemas.openxmlformats.org/officeDocument/2006/relationships/hyperlink" Target="mailto:cvelazquez3@ucol.mx" TargetMode="External"/><Relationship Id="rId7" Type="http://schemas.openxmlformats.org/officeDocument/2006/relationships/image" Target="../media/image2.png"/><Relationship Id="rId12" Type="http://schemas.openxmlformats.org/officeDocument/2006/relationships/image" Target="../media/image7.png"/><Relationship Id="rId17" Type="http://schemas.openxmlformats.org/officeDocument/2006/relationships/image" Target="../media/image12.png"/><Relationship Id="rId2" Type="http://schemas.openxmlformats.org/officeDocument/2006/relationships/image" Target="../media/image1.png"/><Relationship Id="rId16"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hyperlink" Target="mailto:agalaviz@cicese.edu.mx" TargetMode="External"/><Relationship Id="rId11" Type="http://schemas.openxmlformats.org/officeDocument/2006/relationships/image" Target="../media/image6.png"/><Relationship Id="rId5" Type="http://schemas.openxmlformats.org/officeDocument/2006/relationships/hyperlink" Target="mailto:cristianaboites0@gmail.com" TargetMode="External"/><Relationship Id="rId15" Type="http://schemas.openxmlformats.org/officeDocument/2006/relationships/image" Target="../media/image10.png"/><Relationship Id="rId10" Type="http://schemas.openxmlformats.org/officeDocument/2006/relationships/image" Target="../media/image5.png"/><Relationship Id="rId4" Type="http://schemas.openxmlformats.org/officeDocument/2006/relationships/hyperlink" Target="mailto:302510822@ute.edu.mx" TargetMode="External"/><Relationship Id="rId9" Type="http://schemas.openxmlformats.org/officeDocument/2006/relationships/image" Target="../media/image4.png"/><Relationship Id="rId1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ángulo: esquinas redondeadas 36">
            <a:extLst>
              <a:ext uri="{FF2B5EF4-FFF2-40B4-BE49-F238E27FC236}">
                <a16:creationId xmlns:a16="http://schemas.microsoft.com/office/drawing/2014/main" id="{1C2F0C4E-2BE0-B5A0-78B8-4453F21EF590}"/>
              </a:ext>
            </a:extLst>
          </p:cNvPr>
          <p:cNvSpPr/>
          <p:nvPr/>
        </p:nvSpPr>
        <p:spPr>
          <a:xfrm>
            <a:off x="16457144" y="31391565"/>
            <a:ext cx="15249378" cy="11048803"/>
          </a:xfrm>
          <a:prstGeom prst="roundRect">
            <a:avLst>
              <a:gd name="adj" fmla="val 4269"/>
            </a:avLst>
          </a:prstGeom>
          <a:solidFill>
            <a:srgbClr val="DEEBF7">
              <a:alpha val="40000"/>
            </a:srgbClr>
          </a:solid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MX" dirty="0"/>
          </a:p>
        </p:txBody>
      </p:sp>
      <p:sp>
        <p:nvSpPr>
          <p:cNvPr id="23" name="Rectángulo: esquinas redondeadas 22">
            <a:extLst>
              <a:ext uri="{FF2B5EF4-FFF2-40B4-BE49-F238E27FC236}">
                <a16:creationId xmlns:a16="http://schemas.microsoft.com/office/drawing/2014/main" id="{CC3723D5-E611-2AB8-F152-5676946D8017}"/>
              </a:ext>
            </a:extLst>
          </p:cNvPr>
          <p:cNvSpPr/>
          <p:nvPr/>
        </p:nvSpPr>
        <p:spPr>
          <a:xfrm>
            <a:off x="816985" y="21461566"/>
            <a:ext cx="15249378" cy="20862668"/>
          </a:xfrm>
          <a:prstGeom prst="roundRect">
            <a:avLst>
              <a:gd name="adj" fmla="val 3469"/>
            </a:avLst>
          </a:prstGeom>
          <a:solidFill>
            <a:srgbClr val="DEEBF7">
              <a:alpha val="40000"/>
            </a:srgbClr>
          </a:solid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4" name="Rectángulo: esquinas redondeadas 3">
            <a:extLst>
              <a:ext uri="{FF2B5EF4-FFF2-40B4-BE49-F238E27FC236}">
                <a16:creationId xmlns:a16="http://schemas.microsoft.com/office/drawing/2014/main" id="{86570ACF-C798-4D5D-910E-DB8B50233C22}"/>
              </a:ext>
            </a:extLst>
          </p:cNvPr>
          <p:cNvSpPr/>
          <p:nvPr/>
        </p:nvSpPr>
        <p:spPr>
          <a:xfrm>
            <a:off x="670560" y="13853160"/>
            <a:ext cx="15249378" cy="7072609"/>
          </a:xfrm>
          <a:prstGeom prst="roundRect">
            <a:avLst>
              <a:gd name="adj" fmla="val 7779"/>
            </a:avLst>
          </a:prstGeom>
          <a:solidFill>
            <a:srgbClr val="DEEBF7">
              <a:alpha val="40000"/>
            </a:srgbClr>
          </a:solid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mc:AlternateContent xmlns:mc="http://schemas.openxmlformats.org/markup-compatibility/2006">
        <mc:Choice xmlns:a14="http://schemas.microsoft.com/office/drawing/2010/main" Requires="a14">
          <p:sp>
            <p:nvSpPr>
              <p:cNvPr id="5" name="Rectángulo: esquinas redondeadas 4">
                <a:extLst>
                  <a:ext uri="{FF2B5EF4-FFF2-40B4-BE49-F238E27FC236}">
                    <a16:creationId xmlns:a16="http://schemas.microsoft.com/office/drawing/2014/main" id="{F0C989E4-A07C-A61D-D74F-668A5769A6D8}"/>
                  </a:ext>
                </a:extLst>
              </p:cNvPr>
              <p:cNvSpPr/>
              <p:nvPr/>
            </p:nvSpPr>
            <p:spPr>
              <a:xfrm>
                <a:off x="16429801" y="13853161"/>
                <a:ext cx="15249378" cy="16783494"/>
              </a:xfrm>
              <a:prstGeom prst="roundRect">
                <a:avLst>
                  <a:gd name="adj" fmla="val 4269"/>
                </a:avLst>
              </a:prstGeom>
              <a:solidFill>
                <a:srgbClr val="DEEBF7">
                  <a:alpha val="40000"/>
                </a:srgbClr>
              </a:solid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acc>
                        <m:accPr>
                          <m:chr m:val="̈"/>
                          <m:ctrlPr>
                            <a:rPr lang="es-MX" i="1">
                              <a:latin typeface="Cambria Math" panose="02040503050406030204" pitchFamily="18" charset="0"/>
                            </a:rPr>
                          </m:ctrlPr>
                        </m:accPr>
                        <m:e>
                          <m:r>
                            <a:rPr lang="es-MX" i="1">
                              <a:latin typeface="Cambria Math" panose="02040503050406030204" pitchFamily="18" charset="0"/>
                            </a:rPr>
                            <m:t>𝑥</m:t>
                          </m:r>
                        </m:e>
                      </m:acc>
                      <m:r>
                        <a:rPr lang="es-MX">
                          <a:latin typeface="Cambria Math" panose="02040503050406030204" pitchFamily="18" charset="0"/>
                        </a:rPr>
                        <m:t>=</m:t>
                      </m:r>
                      <m:d>
                        <m:dPr>
                          <m:ctrlPr>
                            <a:rPr lang="es-MX" i="1">
                              <a:latin typeface="Cambria Math" panose="02040503050406030204" pitchFamily="18" charset="0"/>
                            </a:rPr>
                          </m:ctrlPr>
                        </m:dPr>
                        <m:e>
                          <m:sSub>
                            <m:sSubPr>
                              <m:ctrlPr>
                                <a:rPr lang="es-MX" i="1">
                                  <a:latin typeface="Cambria Math" panose="02040503050406030204" pitchFamily="18" charset="0"/>
                                </a:rPr>
                              </m:ctrlPr>
                            </m:sSubPr>
                            <m:e>
                              <m:r>
                                <a:rPr lang="es-MX" i="1">
                                  <a:latin typeface="Cambria Math" panose="02040503050406030204" pitchFamily="18" charset="0"/>
                                </a:rPr>
                                <m:t>𝐶</m:t>
                              </m:r>
                            </m:e>
                            <m:sub>
                              <m:r>
                                <a:rPr lang="es-MX" i="1">
                                  <a:latin typeface="Cambria Math" panose="02040503050406030204" pitchFamily="18" charset="0"/>
                                </a:rPr>
                                <m:t>𝜙</m:t>
                              </m:r>
                            </m:sub>
                          </m:sSub>
                          <m:sSub>
                            <m:sSubPr>
                              <m:ctrlPr>
                                <a:rPr lang="es-MX" i="1">
                                  <a:latin typeface="Cambria Math" panose="02040503050406030204" pitchFamily="18" charset="0"/>
                                </a:rPr>
                              </m:ctrlPr>
                            </m:sSubPr>
                            <m:e>
                              <m:r>
                                <a:rPr lang="es-MX" i="1">
                                  <a:latin typeface="Cambria Math" panose="02040503050406030204" pitchFamily="18" charset="0"/>
                                </a:rPr>
                                <m:t>𝑆</m:t>
                              </m:r>
                            </m:e>
                            <m:sub>
                              <m:r>
                                <a:rPr lang="es-MX" i="1">
                                  <a:latin typeface="Cambria Math" panose="02040503050406030204" pitchFamily="18" charset="0"/>
                                </a:rPr>
                                <m:t>𝜃</m:t>
                              </m:r>
                            </m:sub>
                          </m:sSub>
                          <m:sSub>
                            <m:sSubPr>
                              <m:ctrlPr>
                                <a:rPr lang="es-MX" i="1">
                                  <a:latin typeface="Cambria Math" panose="02040503050406030204" pitchFamily="18" charset="0"/>
                                </a:rPr>
                              </m:ctrlPr>
                            </m:sSubPr>
                            <m:e>
                              <m:r>
                                <a:rPr lang="es-MX" i="1">
                                  <a:latin typeface="Cambria Math" panose="02040503050406030204" pitchFamily="18" charset="0"/>
                                </a:rPr>
                                <m:t>𝐶</m:t>
                              </m:r>
                            </m:e>
                            <m:sub>
                              <m:r>
                                <a:rPr lang="es-MX" i="1">
                                  <a:latin typeface="Cambria Math" panose="02040503050406030204" pitchFamily="18" charset="0"/>
                                </a:rPr>
                                <m:t>𝜓</m:t>
                              </m:r>
                            </m:sub>
                          </m:sSub>
                          <m:r>
                            <a:rPr lang="es-MX">
                              <a:latin typeface="Cambria Math" panose="02040503050406030204" pitchFamily="18" charset="0"/>
                            </a:rPr>
                            <m:t>+</m:t>
                          </m:r>
                          <m:sSub>
                            <m:sSubPr>
                              <m:ctrlPr>
                                <a:rPr lang="es-MX" i="1">
                                  <a:latin typeface="Cambria Math" panose="02040503050406030204" pitchFamily="18" charset="0"/>
                                </a:rPr>
                              </m:ctrlPr>
                            </m:sSubPr>
                            <m:e>
                              <m:r>
                                <a:rPr lang="es-MX" i="1">
                                  <a:latin typeface="Cambria Math" panose="02040503050406030204" pitchFamily="18" charset="0"/>
                                </a:rPr>
                                <m:t>𝑆</m:t>
                              </m:r>
                            </m:e>
                            <m:sub>
                              <m:r>
                                <a:rPr lang="es-MX" i="1">
                                  <a:latin typeface="Cambria Math" panose="02040503050406030204" pitchFamily="18" charset="0"/>
                                </a:rPr>
                                <m:t>𝜙</m:t>
                              </m:r>
                            </m:sub>
                          </m:sSub>
                          <m:sSub>
                            <m:sSubPr>
                              <m:ctrlPr>
                                <a:rPr lang="es-MX" i="1">
                                  <a:latin typeface="Cambria Math" panose="02040503050406030204" pitchFamily="18" charset="0"/>
                                </a:rPr>
                              </m:ctrlPr>
                            </m:sSubPr>
                            <m:e>
                              <m:r>
                                <a:rPr lang="es-MX" i="1">
                                  <a:latin typeface="Cambria Math" panose="02040503050406030204" pitchFamily="18" charset="0"/>
                                </a:rPr>
                                <m:t>𝑆</m:t>
                              </m:r>
                            </m:e>
                            <m:sub>
                              <m:r>
                                <a:rPr lang="es-MX" i="1">
                                  <a:latin typeface="Cambria Math" panose="02040503050406030204" pitchFamily="18" charset="0"/>
                                </a:rPr>
                                <m:t>𝜓</m:t>
                              </m:r>
                            </m:sub>
                          </m:sSub>
                        </m:e>
                      </m:d>
                      <m:f>
                        <m:fPr>
                          <m:ctrlPr>
                            <a:rPr lang="es-MX" i="1">
                              <a:latin typeface="Cambria Math" panose="02040503050406030204" pitchFamily="18" charset="0"/>
                            </a:rPr>
                          </m:ctrlPr>
                        </m:fPr>
                        <m:num>
                          <m:r>
                            <a:rPr lang="es-MX">
                              <a:latin typeface="Cambria Math" panose="02040503050406030204" pitchFamily="18" charset="0"/>
                            </a:rPr>
                            <m:t>1</m:t>
                          </m:r>
                        </m:num>
                        <m:den>
                          <m:r>
                            <a:rPr lang="es-MX" i="1">
                              <a:latin typeface="Cambria Math" panose="02040503050406030204" pitchFamily="18" charset="0"/>
                            </a:rPr>
                            <m:t>𝑚</m:t>
                          </m:r>
                        </m:den>
                      </m:f>
                      <m:r>
                        <a:rPr lang="es-MX" i="1">
                          <a:latin typeface="Cambria Math" panose="02040503050406030204" pitchFamily="18" charset="0"/>
                        </a:rPr>
                        <m:t>𝑇</m:t>
                      </m:r>
                      <m:r>
                        <a:rPr lang="es-MX" i="1">
                          <a:latin typeface="Cambria Math" panose="02040503050406030204" pitchFamily="18" charset="0"/>
                        </a:rPr>
                        <m:t>−</m:t>
                      </m:r>
                      <m:sSub>
                        <m:sSubPr>
                          <m:ctrlPr>
                            <a:rPr lang="es-MX" i="1">
                              <a:latin typeface="Cambria Math" panose="02040503050406030204" pitchFamily="18" charset="0"/>
                            </a:rPr>
                          </m:ctrlPr>
                        </m:sSubPr>
                        <m:e>
                          <m:r>
                            <a:rPr lang="es-MX" i="1">
                              <a:latin typeface="Cambria Math" panose="02040503050406030204" pitchFamily="18" charset="0"/>
                            </a:rPr>
                            <m:t>𝐴</m:t>
                          </m:r>
                        </m:e>
                        <m:sub>
                          <m:r>
                            <a:rPr lang="es-MX" i="1">
                              <a:latin typeface="Cambria Math" panose="02040503050406030204" pitchFamily="18" charset="0"/>
                            </a:rPr>
                            <m:t>𝑑𝑥</m:t>
                          </m:r>
                        </m:sub>
                      </m:sSub>
                      <m:acc>
                        <m:accPr>
                          <m:chr m:val="̇"/>
                          <m:ctrlPr>
                            <a:rPr lang="es-MX" i="1">
                              <a:latin typeface="Cambria Math" panose="02040503050406030204" pitchFamily="18" charset="0"/>
                            </a:rPr>
                          </m:ctrlPr>
                        </m:accPr>
                        <m:e>
                          <m:r>
                            <a:rPr lang="es-MX" i="1">
                              <a:latin typeface="Cambria Math" panose="02040503050406030204" pitchFamily="18" charset="0"/>
                            </a:rPr>
                            <m:t>𝑥</m:t>
                          </m:r>
                        </m:e>
                      </m:acc>
                    </m:oMath>
                  </m:oMathPara>
                </a14:m>
                <a:endParaRPr lang="es-MX"/>
              </a:p>
              <a:p>
                <a:pPr/>
                <a14:m>
                  <m:oMathPara xmlns:m="http://schemas.openxmlformats.org/officeDocument/2006/math">
                    <m:oMathParaPr>
                      <m:jc m:val="centerGroup"/>
                    </m:oMathParaPr>
                    <m:oMath xmlns:m="http://schemas.openxmlformats.org/officeDocument/2006/math">
                      <m:acc>
                        <m:accPr>
                          <m:chr m:val="̈"/>
                          <m:ctrlPr>
                            <a:rPr lang="es-MX" i="1">
                              <a:latin typeface="Cambria Math" panose="02040503050406030204" pitchFamily="18" charset="0"/>
                            </a:rPr>
                          </m:ctrlPr>
                        </m:accPr>
                        <m:e>
                          <m:r>
                            <a:rPr lang="es-MX" i="1">
                              <a:latin typeface="Cambria Math" panose="02040503050406030204" pitchFamily="18" charset="0"/>
                            </a:rPr>
                            <m:t>𝑦</m:t>
                          </m:r>
                        </m:e>
                      </m:acc>
                      <m:r>
                        <a:rPr lang="es-MX">
                          <a:latin typeface="Cambria Math" panose="02040503050406030204" pitchFamily="18" charset="0"/>
                        </a:rPr>
                        <m:t>=</m:t>
                      </m:r>
                      <m:d>
                        <m:dPr>
                          <m:ctrlPr>
                            <a:rPr lang="es-MX" i="1">
                              <a:latin typeface="Cambria Math" panose="02040503050406030204" pitchFamily="18" charset="0"/>
                            </a:rPr>
                          </m:ctrlPr>
                        </m:dPr>
                        <m:e>
                          <m:sSub>
                            <m:sSubPr>
                              <m:ctrlPr>
                                <a:rPr lang="es-MX" i="1">
                                  <a:latin typeface="Cambria Math" panose="02040503050406030204" pitchFamily="18" charset="0"/>
                                </a:rPr>
                              </m:ctrlPr>
                            </m:sSubPr>
                            <m:e>
                              <m:r>
                                <a:rPr lang="es-MX" i="1">
                                  <a:latin typeface="Cambria Math" panose="02040503050406030204" pitchFamily="18" charset="0"/>
                                </a:rPr>
                                <m:t>𝐶</m:t>
                              </m:r>
                            </m:e>
                            <m:sub>
                              <m:r>
                                <a:rPr lang="es-MX" i="1">
                                  <a:latin typeface="Cambria Math" panose="02040503050406030204" pitchFamily="18" charset="0"/>
                                </a:rPr>
                                <m:t>𝜙</m:t>
                              </m:r>
                            </m:sub>
                          </m:sSub>
                          <m:sSub>
                            <m:sSubPr>
                              <m:ctrlPr>
                                <a:rPr lang="es-MX" i="1">
                                  <a:latin typeface="Cambria Math" panose="02040503050406030204" pitchFamily="18" charset="0"/>
                                </a:rPr>
                              </m:ctrlPr>
                            </m:sSubPr>
                            <m:e>
                              <m:r>
                                <a:rPr lang="es-MX" i="1">
                                  <a:latin typeface="Cambria Math" panose="02040503050406030204" pitchFamily="18" charset="0"/>
                                </a:rPr>
                                <m:t>𝑆</m:t>
                              </m:r>
                            </m:e>
                            <m:sub>
                              <m:r>
                                <a:rPr lang="es-MX" i="1">
                                  <a:latin typeface="Cambria Math" panose="02040503050406030204" pitchFamily="18" charset="0"/>
                                </a:rPr>
                                <m:t>𝜃</m:t>
                              </m:r>
                            </m:sub>
                          </m:sSub>
                          <m:sSub>
                            <m:sSubPr>
                              <m:ctrlPr>
                                <a:rPr lang="es-MX" i="1">
                                  <a:latin typeface="Cambria Math" panose="02040503050406030204" pitchFamily="18" charset="0"/>
                                </a:rPr>
                              </m:ctrlPr>
                            </m:sSubPr>
                            <m:e>
                              <m:r>
                                <a:rPr lang="es-MX" i="1">
                                  <a:latin typeface="Cambria Math" panose="02040503050406030204" pitchFamily="18" charset="0"/>
                                </a:rPr>
                                <m:t>𝑆</m:t>
                              </m:r>
                            </m:e>
                            <m:sub>
                              <m:r>
                                <a:rPr lang="es-MX" i="1">
                                  <a:latin typeface="Cambria Math" panose="02040503050406030204" pitchFamily="18" charset="0"/>
                                </a:rPr>
                                <m:t>𝜓</m:t>
                              </m:r>
                            </m:sub>
                          </m:sSub>
                          <m:r>
                            <a:rPr lang="es-MX" i="1">
                              <a:latin typeface="Cambria Math" panose="02040503050406030204" pitchFamily="18" charset="0"/>
                            </a:rPr>
                            <m:t>−</m:t>
                          </m:r>
                          <m:sSub>
                            <m:sSubPr>
                              <m:ctrlPr>
                                <a:rPr lang="es-MX" i="1">
                                  <a:latin typeface="Cambria Math" panose="02040503050406030204" pitchFamily="18" charset="0"/>
                                </a:rPr>
                              </m:ctrlPr>
                            </m:sSubPr>
                            <m:e>
                              <m:r>
                                <a:rPr lang="es-MX" i="1">
                                  <a:latin typeface="Cambria Math" panose="02040503050406030204" pitchFamily="18" charset="0"/>
                                </a:rPr>
                                <m:t>𝑆</m:t>
                              </m:r>
                            </m:e>
                            <m:sub>
                              <m:r>
                                <a:rPr lang="es-MX" i="1">
                                  <a:latin typeface="Cambria Math" panose="02040503050406030204" pitchFamily="18" charset="0"/>
                                </a:rPr>
                                <m:t>𝜙</m:t>
                              </m:r>
                            </m:sub>
                          </m:sSub>
                          <m:sSub>
                            <m:sSubPr>
                              <m:ctrlPr>
                                <a:rPr lang="es-MX" i="1">
                                  <a:latin typeface="Cambria Math" panose="02040503050406030204" pitchFamily="18" charset="0"/>
                                </a:rPr>
                              </m:ctrlPr>
                            </m:sSubPr>
                            <m:e>
                              <m:r>
                                <a:rPr lang="es-MX" i="1">
                                  <a:latin typeface="Cambria Math" panose="02040503050406030204" pitchFamily="18" charset="0"/>
                                </a:rPr>
                                <m:t>𝐶</m:t>
                              </m:r>
                            </m:e>
                            <m:sub>
                              <m:r>
                                <a:rPr lang="es-MX" i="1">
                                  <a:latin typeface="Cambria Math" panose="02040503050406030204" pitchFamily="18" charset="0"/>
                                </a:rPr>
                                <m:t>𝜓</m:t>
                              </m:r>
                            </m:sub>
                          </m:sSub>
                        </m:e>
                      </m:d>
                      <m:f>
                        <m:fPr>
                          <m:ctrlPr>
                            <a:rPr lang="es-MX" i="1">
                              <a:latin typeface="Cambria Math" panose="02040503050406030204" pitchFamily="18" charset="0"/>
                            </a:rPr>
                          </m:ctrlPr>
                        </m:fPr>
                        <m:num>
                          <m:r>
                            <a:rPr lang="es-MX">
                              <a:latin typeface="Cambria Math" panose="02040503050406030204" pitchFamily="18" charset="0"/>
                            </a:rPr>
                            <m:t>1</m:t>
                          </m:r>
                        </m:num>
                        <m:den>
                          <m:r>
                            <a:rPr lang="es-MX" i="1">
                              <a:latin typeface="Cambria Math" panose="02040503050406030204" pitchFamily="18" charset="0"/>
                            </a:rPr>
                            <m:t>𝑚</m:t>
                          </m:r>
                        </m:den>
                      </m:f>
                      <m:r>
                        <a:rPr lang="es-MX" i="1">
                          <a:latin typeface="Cambria Math" panose="02040503050406030204" pitchFamily="18" charset="0"/>
                        </a:rPr>
                        <m:t>𝑇</m:t>
                      </m:r>
                      <m:r>
                        <a:rPr lang="es-MX" i="1">
                          <a:latin typeface="Cambria Math" panose="02040503050406030204" pitchFamily="18" charset="0"/>
                        </a:rPr>
                        <m:t>−</m:t>
                      </m:r>
                      <m:sSub>
                        <m:sSubPr>
                          <m:ctrlPr>
                            <a:rPr lang="es-MX" i="1">
                              <a:latin typeface="Cambria Math" panose="02040503050406030204" pitchFamily="18" charset="0"/>
                            </a:rPr>
                          </m:ctrlPr>
                        </m:sSubPr>
                        <m:e>
                          <m:r>
                            <a:rPr lang="es-MX" i="1">
                              <a:latin typeface="Cambria Math" panose="02040503050406030204" pitchFamily="18" charset="0"/>
                            </a:rPr>
                            <m:t>𝐴</m:t>
                          </m:r>
                        </m:e>
                        <m:sub>
                          <m:r>
                            <a:rPr lang="es-MX" i="1">
                              <a:latin typeface="Cambria Math" panose="02040503050406030204" pitchFamily="18" charset="0"/>
                            </a:rPr>
                            <m:t>𝑑𝑦</m:t>
                          </m:r>
                        </m:sub>
                      </m:sSub>
                      <m:acc>
                        <m:accPr>
                          <m:chr m:val="̇"/>
                          <m:ctrlPr>
                            <a:rPr lang="es-MX" i="1">
                              <a:latin typeface="Cambria Math" panose="02040503050406030204" pitchFamily="18" charset="0"/>
                            </a:rPr>
                          </m:ctrlPr>
                        </m:accPr>
                        <m:e>
                          <m:r>
                            <a:rPr lang="es-MX" i="1">
                              <a:latin typeface="Cambria Math" panose="02040503050406030204" pitchFamily="18" charset="0"/>
                            </a:rPr>
                            <m:t>𝑦</m:t>
                          </m:r>
                        </m:e>
                      </m:acc>
                    </m:oMath>
                  </m:oMathPara>
                </a14:m>
                <a:endParaRPr lang="es-MX"/>
              </a:p>
              <a:p>
                <a:pPr/>
                <a14:m>
                  <m:oMathPara xmlns:m="http://schemas.openxmlformats.org/officeDocument/2006/math">
                    <m:oMathParaPr>
                      <m:jc m:val="centerGroup"/>
                    </m:oMathParaPr>
                    <m:oMath xmlns:m="http://schemas.openxmlformats.org/officeDocument/2006/math">
                      <m:acc>
                        <m:accPr>
                          <m:chr m:val="̈"/>
                          <m:ctrlPr>
                            <a:rPr lang="es-MX" i="1">
                              <a:latin typeface="Cambria Math" panose="02040503050406030204" pitchFamily="18" charset="0"/>
                            </a:rPr>
                          </m:ctrlPr>
                        </m:accPr>
                        <m:e>
                          <m:r>
                            <a:rPr lang="es-MX" i="1">
                              <a:latin typeface="Cambria Math" panose="02040503050406030204" pitchFamily="18" charset="0"/>
                            </a:rPr>
                            <m:t>𝑧</m:t>
                          </m:r>
                        </m:e>
                      </m:acc>
                      <m:r>
                        <a:rPr lang="es-MX">
                          <a:latin typeface="Cambria Math" panose="02040503050406030204" pitchFamily="18" charset="0"/>
                        </a:rPr>
                        <m:t>=</m:t>
                      </m:r>
                      <m:r>
                        <a:rPr lang="es-MX" i="1">
                          <a:latin typeface="Cambria Math" panose="02040503050406030204" pitchFamily="18" charset="0"/>
                        </a:rPr>
                        <m:t>−</m:t>
                      </m:r>
                      <m:r>
                        <a:rPr lang="es-MX" i="1">
                          <a:latin typeface="Cambria Math" panose="02040503050406030204" pitchFamily="18" charset="0"/>
                        </a:rPr>
                        <m:t>𝑔</m:t>
                      </m:r>
                      <m:r>
                        <a:rPr lang="es-MX">
                          <a:latin typeface="Cambria Math" panose="02040503050406030204" pitchFamily="18" charset="0"/>
                        </a:rPr>
                        <m:t>+</m:t>
                      </m:r>
                      <m:d>
                        <m:dPr>
                          <m:ctrlPr>
                            <a:rPr lang="es-MX" i="1">
                              <a:latin typeface="Cambria Math" panose="02040503050406030204" pitchFamily="18" charset="0"/>
                            </a:rPr>
                          </m:ctrlPr>
                        </m:dPr>
                        <m:e>
                          <m:sSub>
                            <m:sSubPr>
                              <m:ctrlPr>
                                <a:rPr lang="es-MX" i="1">
                                  <a:latin typeface="Cambria Math" panose="02040503050406030204" pitchFamily="18" charset="0"/>
                                </a:rPr>
                              </m:ctrlPr>
                            </m:sSubPr>
                            <m:e>
                              <m:r>
                                <a:rPr lang="es-MX" i="1">
                                  <a:latin typeface="Cambria Math" panose="02040503050406030204" pitchFamily="18" charset="0"/>
                                </a:rPr>
                                <m:t>𝐶</m:t>
                              </m:r>
                            </m:e>
                            <m:sub>
                              <m:r>
                                <a:rPr lang="es-MX" i="1">
                                  <a:latin typeface="Cambria Math" panose="02040503050406030204" pitchFamily="18" charset="0"/>
                                </a:rPr>
                                <m:t>𝜙</m:t>
                              </m:r>
                            </m:sub>
                          </m:sSub>
                          <m:sSub>
                            <m:sSubPr>
                              <m:ctrlPr>
                                <a:rPr lang="es-MX" i="1">
                                  <a:latin typeface="Cambria Math" panose="02040503050406030204" pitchFamily="18" charset="0"/>
                                </a:rPr>
                              </m:ctrlPr>
                            </m:sSubPr>
                            <m:e>
                              <m:r>
                                <a:rPr lang="es-MX" i="1">
                                  <a:latin typeface="Cambria Math" panose="02040503050406030204" pitchFamily="18" charset="0"/>
                                </a:rPr>
                                <m:t>𝐶</m:t>
                              </m:r>
                            </m:e>
                            <m:sub>
                              <m:r>
                                <a:rPr lang="es-MX" i="1">
                                  <a:latin typeface="Cambria Math" panose="02040503050406030204" pitchFamily="18" charset="0"/>
                                </a:rPr>
                                <m:t>𝜃</m:t>
                              </m:r>
                            </m:sub>
                          </m:sSub>
                        </m:e>
                      </m:d>
                      <m:f>
                        <m:fPr>
                          <m:ctrlPr>
                            <a:rPr lang="es-MX" i="1">
                              <a:latin typeface="Cambria Math" panose="02040503050406030204" pitchFamily="18" charset="0"/>
                            </a:rPr>
                          </m:ctrlPr>
                        </m:fPr>
                        <m:num>
                          <m:r>
                            <a:rPr lang="es-MX">
                              <a:latin typeface="Cambria Math" panose="02040503050406030204" pitchFamily="18" charset="0"/>
                            </a:rPr>
                            <m:t>1</m:t>
                          </m:r>
                        </m:num>
                        <m:den>
                          <m:r>
                            <a:rPr lang="es-MX" i="1">
                              <a:latin typeface="Cambria Math" panose="02040503050406030204" pitchFamily="18" charset="0"/>
                            </a:rPr>
                            <m:t>𝑚</m:t>
                          </m:r>
                        </m:den>
                      </m:f>
                      <m:r>
                        <a:rPr lang="es-MX" i="1">
                          <a:latin typeface="Cambria Math" panose="02040503050406030204" pitchFamily="18" charset="0"/>
                        </a:rPr>
                        <m:t>𝑇</m:t>
                      </m:r>
                      <m:r>
                        <a:rPr lang="es-MX" i="1">
                          <a:latin typeface="Cambria Math" panose="02040503050406030204" pitchFamily="18" charset="0"/>
                        </a:rPr>
                        <m:t>−</m:t>
                      </m:r>
                      <m:sSub>
                        <m:sSubPr>
                          <m:ctrlPr>
                            <a:rPr lang="es-MX" i="1">
                              <a:latin typeface="Cambria Math" panose="02040503050406030204" pitchFamily="18" charset="0"/>
                            </a:rPr>
                          </m:ctrlPr>
                        </m:sSubPr>
                        <m:e>
                          <m:r>
                            <a:rPr lang="es-MX" i="1">
                              <a:latin typeface="Cambria Math" panose="02040503050406030204" pitchFamily="18" charset="0"/>
                            </a:rPr>
                            <m:t>𝐴</m:t>
                          </m:r>
                        </m:e>
                        <m:sub>
                          <m:r>
                            <a:rPr lang="es-MX" i="1">
                              <a:latin typeface="Cambria Math" panose="02040503050406030204" pitchFamily="18" charset="0"/>
                            </a:rPr>
                            <m:t>𝑑𝑧</m:t>
                          </m:r>
                        </m:sub>
                      </m:sSub>
                      <m:acc>
                        <m:accPr>
                          <m:chr m:val="̇"/>
                          <m:ctrlPr>
                            <a:rPr lang="es-MX" i="1">
                              <a:latin typeface="Cambria Math" panose="02040503050406030204" pitchFamily="18" charset="0"/>
                            </a:rPr>
                          </m:ctrlPr>
                        </m:accPr>
                        <m:e>
                          <m:r>
                            <a:rPr lang="es-MX" i="1">
                              <a:latin typeface="Cambria Math" panose="02040503050406030204" pitchFamily="18" charset="0"/>
                            </a:rPr>
                            <m:t>𝑧</m:t>
                          </m:r>
                        </m:e>
                      </m:acc>
                    </m:oMath>
                  </m:oMathPara>
                </a14:m>
                <a:endParaRPr lang="es-MX"/>
              </a:p>
              <a:p>
                <a:pPr/>
                <a14:m>
                  <m:oMathPara xmlns:m="http://schemas.openxmlformats.org/officeDocument/2006/math">
                    <m:oMathParaPr>
                      <m:jc m:val="centerGroup"/>
                    </m:oMathParaPr>
                    <m:oMath xmlns:m="http://schemas.openxmlformats.org/officeDocument/2006/math">
                      <m:acc>
                        <m:accPr>
                          <m:chr m:val="̈"/>
                          <m:ctrlPr>
                            <a:rPr lang="es-MX" i="1">
                              <a:latin typeface="Cambria Math" panose="02040503050406030204" pitchFamily="18" charset="0"/>
                            </a:rPr>
                          </m:ctrlPr>
                        </m:accPr>
                        <m:e>
                          <m:r>
                            <a:rPr lang="es-MX" i="1">
                              <a:latin typeface="Cambria Math" panose="02040503050406030204" pitchFamily="18" charset="0"/>
                            </a:rPr>
                            <m:t>𝜙</m:t>
                          </m:r>
                        </m:e>
                      </m:acc>
                      <m:r>
                        <a:rPr lang="es-MX">
                          <a:latin typeface="Cambria Math" panose="02040503050406030204" pitchFamily="18" charset="0"/>
                        </a:rPr>
                        <m:t>=</m:t>
                      </m:r>
                      <m:f>
                        <m:fPr>
                          <m:ctrlPr>
                            <a:rPr lang="es-MX" i="1">
                              <a:latin typeface="Cambria Math" panose="02040503050406030204" pitchFamily="18" charset="0"/>
                            </a:rPr>
                          </m:ctrlPr>
                        </m:fPr>
                        <m:num>
                          <m:r>
                            <a:rPr lang="es-MX">
                              <a:latin typeface="Cambria Math" panose="02040503050406030204" pitchFamily="18" charset="0"/>
                            </a:rPr>
                            <m:t>1</m:t>
                          </m:r>
                        </m:num>
                        <m:den>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𝑥𝑥</m:t>
                              </m:r>
                            </m:sub>
                          </m:sSub>
                        </m:den>
                      </m:f>
                      <m:sSub>
                        <m:sSubPr>
                          <m:ctrlPr>
                            <a:rPr lang="es-MX" i="1">
                              <a:latin typeface="Cambria Math" panose="02040503050406030204" pitchFamily="18" charset="0"/>
                            </a:rPr>
                          </m:ctrlPr>
                        </m:sSubPr>
                        <m:e>
                          <m:r>
                            <a:rPr lang="es-MX" i="1">
                              <a:latin typeface="Cambria Math" panose="02040503050406030204" pitchFamily="18" charset="0"/>
                            </a:rPr>
                            <m:t>𝜏</m:t>
                          </m:r>
                        </m:e>
                        <m:sub>
                          <m:r>
                            <a:rPr lang="es-MX" i="1">
                              <a:latin typeface="Cambria Math" panose="02040503050406030204" pitchFamily="18" charset="0"/>
                            </a:rPr>
                            <m:t>𝜙</m:t>
                          </m:r>
                        </m:sub>
                      </m:sSub>
                      <m:r>
                        <a:rPr lang="es-MX">
                          <a:latin typeface="Cambria Math" panose="02040503050406030204" pitchFamily="18" charset="0"/>
                        </a:rPr>
                        <m:t>+</m:t>
                      </m:r>
                      <m:f>
                        <m:fPr>
                          <m:ctrlPr>
                            <a:rPr lang="es-MX" i="1">
                              <a:latin typeface="Cambria Math" panose="02040503050406030204" pitchFamily="18" charset="0"/>
                            </a:rPr>
                          </m:ctrlPr>
                        </m:fPr>
                        <m:num>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𝑦𝑦</m:t>
                              </m:r>
                            </m:sub>
                          </m:sSub>
                          <m:r>
                            <a:rPr lang="es-MX" i="1">
                              <a:latin typeface="Cambria Math" panose="02040503050406030204" pitchFamily="18" charset="0"/>
                            </a:rPr>
                            <m:t>−</m:t>
                          </m:r>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𝑧𝑧</m:t>
                              </m:r>
                            </m:sub>
                          </m:sSub>
                        </m:num>
                        <m:den>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𝑥𝑥</m:t>
                              </m:r>
                            </m:sub>
                          </m:sSub>
                        </m:den>
                      </m:f>
                      <m:acc>
                        <m:accPr>
                          <m:chr m:val="̇"/>
                          <m:ctrlPr>
                            <a:rPr lang="es-MX" i="1">
                              <a:latin typeface="Cambria Math" panose="02040503050406030204" pitchFamily="18" charset="0"/>
                            </a:rPr>
                          </m:ctrlPr>
                        </m:accPr>
                        <m:e>
                          <m:r>
                            <a:rPr lang="es-MX" i="1">
                              <a:latin typeface="Cambria Math" panose="02040503050406030204" pitchFamily="18" charset="0"/>
                            </a:rPr>
                            <m:t>𝜃</m:t>
                          </m:r>
                        </m:e>
                      </m:acc>
                      <m:acc>
                        <m:accPr>
                          <m:chr m:val="̇"/>
                          <m:ctrlPr>
                            <a:rPr lang="es-MX" i="1">
                              <a:latin typeface="Cambria Math" panose="02040503050406030204" pitchFamily="18" charset="0"/>
                            </a:rPr>
                          </m:ctrlPr>
                        </m:accPr>
                        <m:e>
                          <m:r>
                            <a:rPr lang="es-MX" i="1">
                              <a:latin typeface="Cambria Math" panose="02040503050406030204" pitchFamily="18" charset="0"/>
                            </a:rPr>
                            <m:t>𝜓</m:t>
                          </m:r>
                        </m:e>
                      </m:acc>
                    </m:oMath>
                  </m:oMathPara>
                </a14:m>
                <a:endParaRPr lang="es-MX"/>
              </a:p>
              <a:p>
                <a:pPr/>
                <a14:m>
                  <m:oMathPara xmlns:m="http://schemas.openxmlformats.org/officeDocument/2006/math">
                    <m:oMathParaPr>
                      <m:jc m:val="centerGroup"/>
                    </m:oMathParaPr>
                    <m:oMath xmlns:m="http://schemas.openxmlformats.org/officeDocument/2006/math">
                      <m:acc>
                        <m:accPr>
                          <m:chr m:val="̈"/>
                          <m:ctrlPr>
                            <a:rPr lang="es-MX" i="1">
                              <a:latin typeface="Cambria Math" panose="02040503050406030204" pitchFamily="18" charset="0"/>
                            </a:rPr>
                          </m:ctrlPr>
                        </m:accPr>
                        <m:e>
                          <m:r>
                            <a:rPr lang="es-MX" i="1">
                              <a:latin typeface="Cambria Math" panose="02040503050406030204" pitchFamily="18" charset="0"/>
                            </a:rPr>
                            <m:t>𝜃</m:t>
                          </m:r>
                        </m:e>
                      </m:acc>
                      <m:r>
                        <a:rPr lang="es-MX">
                          <a:latin typeface="Cambria Math" panose="02040503050406030204" pitchFamily="18" charset="0"/>
                        </a:rPr>
                        <m:t>=</m:t>
                      </m:r>
                      <m:f>
                        <m:fPr>
                          <m:ctrlPr>
                            <a:rPr lang="es-MX" i="1">
                              <a:latin typeface="Cambria Math" panose="02040503050406030204" pitchFamily="18" charset="0"/>
                            </a:rPr>
                          </m:ctrlPr>
                        </m:fPr>
                        <m:num>
                          <m:r>
                            <a:rPr lang="es-MX">
                              <a:latin typeface="Cambria Math" panose="02040503050406030204" pitchFamily="18" charset="0"/>
                            </a:rPr>
                            <m:t>1</m:t>
                          </m:r>
                        </m:num>
                        <m:den>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𝑦𝑦</m:t>
                              </m:r>
                            </m:sub>
                          </m:sSub>
                        </m:den>
                      </m:f>
                      <m:sSub>
                        <m:sSubPr>
                          <m:ctrlPr>
                            <a:rPr lang="es-MX" i="1">
                              <a:latin typeface="Cambria Math" panose="02040503050406030204" pitchFamily="18" charset="0"/>
                            </a:rPr>
                          </m:ctrlPr>
                        </m:sSubPr>
                        <m:e>
                          <m:r>
                            <a:rPr lang="es-MX" i="1">
                              <a:latin typeface="Cambria Math" panose="02040503050406030204" pitchFamily="18" charset="0"/>
                            </a:rPr>
                            <m:t>𝜏</m:t>
                          </m:r>
                        </m:e>
                        <m:sub>
                          <m:r>
                            <a:rPr lang="es-MX" i="1">
                              <a:latin typeface="Cambria Math" panose="02040503050406030204" pitchFamily="18" charset="0"/>
                            </a:rPr>
                            <m:t>𝜃</m:t>
                          </m:r>
                        </m:sub>
                      </m:sSub>
                      <m:r>
                        <a:rPr lang="es-MX">
                          <a:latin typeface="Cambria Math" panose="02040503050406030204" pitchFamily="18" charset="0"/>
                        </a:rPr>
                        <m:t>+</m:t>
                      </m:r>
                      <m:f>
                        <m:fPr>
                          <m:ctrlPr>
                            <a:rPr lang="es-MX" i="1">
                              <a:latin typeface="Cambria Math" panose="02040503050406030204" pitchFamily="18" charset="0"/>
                            </a:rPr>
                          </m:ctrlPr>
                        </m:fPr>
                        <m:num>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𝑧𝑧</m:t>
                              </m:r>
                            </m:sub>
                          </m:sSub>
                          <m:r>
                            <a:rPr lang="es-MX" i="1">
                              <a:latin typeface="Cambria Math" panose="02040503050406030204" pitchFamily="18" charset="0"/>
                            </a:rPr>
                            <m:t>−</m:t>
                          </m:r>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𝑥𝑥</m:t>
                              </m:r>
                            </m:sub>
                          </m:sSub>
                        </m:num>
                        <m:den>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𝑦𝑦</m:t>
                              </m:r>
                            </m:sub>
                          </m:sSub>
                        </m:den>
                      </m:f>
                      <m:acc>
                        <m:accPr>
                          <m:chr m:val="̇"/>
                          <m:ctrlPr>
                            <a:rPr lang="es-MX" i="1">
                              <a:latin typeface="Cambria Math" panose="02040503050406030204" pitchFamily="18" charset="0"/>
                            </a:rPr>
                          </m:ctrlPr>
                        </m:accPr>
                        <m:e>
                          <m:r>
                            <a:rPr lang="es-MX" i="1">
                              <a:latin typeface="Cambria Math" panose="02040503050406030204" pitchFamily="18" charset="0"/>
                            </a:rPr>
                            <m:t>𝜙</m:t>
                          </m:r>
                        </m:e>
                      </m:acc>
                      <m:acc>
                        <m:accPr>
                          <m:chr m:val="̇"/>
                          <m:ctrlPr>
                            <a:rPr lang="es-MX" i="1">
                              <a:latin typeface="Cambria Math" panose="02040503050406030204" pitchFamily="18" charset="0"/>
                            </a:rPr>
                          </m:ctrlPr>
                        </m:accPr>
                        <m:e>
                          <m:r>
                            <a:rPr lang="es-MX" i="1">
                              <a:latin typeface="Cambria Math" panose="02040503050406030204" pitchFamily="18" charset="0"/>
                            </a:rPr>
                            <m:t>𝜓</m:t>
                          </m:r>
                        </m:e>
                      </m:acc>
                    </m:oMath>
                  </m:oMathPara>
                </a14:m>
                <a:endParaRPr lang="es-MX"/>
              </a:p>
              <a:p>
                <a:pPr/>
                <a14:m>
                  <m:oMathPara xmlns:m="http://schemas.openxmlformats.org/officeDocument/2006/math">
                    <m:oMathParaPr>
                      <m:jc m:val="centerGroup"/>
                    </m:oMathParaPr>
                    <m:oMath xmlns:m="http://schemas.openxmlformats.org/officeDocument/2006/math">
                      <m:acc>
                        <m:accPr>
                          <m:chr m:val="̈"/>
                          <m:ctrlPr>
                            <a:rPr lang="es-MX" i="1">
                              <a:latin typeface="Cambria Math" panose="02040503050406030204" pitchFamily="18" charset="0"/>
                            </a:rPr>
                          </m:ctrlPr>
                        </m:accPr>
                        <m:e>
                          <m:r>
                            <a:rPr lang="es-MX" i="1">
                              <a:latin typeface="Cambria Math" panose="02040503050406030204" pitchFamily="18" charset="0"/>
                            </a:rPr>
                            <m:t>𝜓</m:t>
                          </m:r>
                        </m:e>
                      </m:acc>
                      <m:r>
                        <a:rPr lang="es-MX">
                          <a:latin typeface="Cambria Math" panose="02040503050406030204" pitchFamily="18" charset="0"/>
                        </a:rPr>
                        <m:t>=</m:t>
                      </m:r>
                      <m:f>
                        <m:fPr>
                          <m:ctrlPr>
                            <a:rPr lang="es-MX" i="1">
                              <a:latin typeface="Cambria Math" panose="02040503050406030204" pitchFamily="18" charset="0"/>
                            </a:rPr>
                          </m:ctrlPr>
                        </m:fPr>
                        <m:num>
                          <m:r>
                            <a:rPr lang="es-MX">
                              <a:latin typeface="Cambria Math" panose="02040503050406030204" pitchFamily="18" charset="0"/>
                            </a:rPr>
                            <m:t>1</m:t>
                          </m:r>
                        </m:num>
                        <m:den>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𝑧𝑧</m:t>
                              </m:r>
                            </m:sub>
                          </m:sSub>
                        </m:den>
                      </m:f>
                      <m:sSub>
                        <m:sSubPr>
                          <m:ctrlPr>
                            <a:rPr lang="es-MX" i="1">
                              <a:latin typeface="Cambria Math" panose="02040503050406030204" pitchFamily="18" charset="0"/>
                            </a:rPr>
                          </m:ctrlPr>
                        </m:sSubPr>
                        <m:e>
                          <m:r>
                            <a:rPr lang="es-MX" i="1">
                              <a:latin typeface="Cambria Math" panose="02040503050406030204" pitchFamily="18" charset="0"/>
                            </a:rPr>
                            <m:t>𝜏</m:t>
                          </m:r>
                        </m:e>
                        <m:sub>
                          <m:r>
                            <a:rPr lang="es-MX" i="1">
                              <a:latin typeface="Cambria Math" panose="02040503050406030204" pitchFamily="18" charset="0"/>
                            </a:rPr>
                            <m:t>𝜓</m:t>
                          </m:r>
                        </m:sub>
                      </m:sSub>
                      <m:r>
                        <a:rPr lang="es-MX">
                          <a:latin typeface="Cambria Math" panose="02040503050406030204" pitchFamily="18" charset="0"/>
                        </a:rPr>
                        <m:t>+</m:t>
                      </m:r>
                      <m:f>
                        <m:fPr>
                          <m:ctrlPr>
                            <a:rPr lang="es-MX" i="1">
                              <a:latin typeface="Cambria Math" panose="02040503050406030204" pitchFamily="18" charset="0"/>
                            </a:rPr>
                          </m:ctrlPr>
                        </m:fPr>
                        <m:num>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𝑥𝑥</m:t>
                              </m:r>
                            </m:sub>
                          </m:sSub>
                          <m:r>
                            <a:rPr lang="es-MX" i="1">
                              <a:latin typeface="Cambria Math" panose="02040503050406030204" pitchFamily="18" charset="0"/>
                            </a:rPr>
                            <m:t>−</m:t>
                          </m:r>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𝑦𝑦</m:t>
                              </m:r>
                            </m:sub>
                          </m:sSub>
                        </m:num>
                        <m:den>
                          <m:sSub>
                            <m:sSubPr>
                              <m:ctrlPr>
                                <a:rPr lang="es-MX" i="1">
                                  <a:latin typeface="Cambria Math" panose="02040503050406030204" pitchFamily="18" charset="0"/>
                                </a:rPr>
                              </m:ctrlPr>
                            </m:sSubPr>
                            <m:e>
                              <m:r>
                                <a:rPr lang="es-MX" i="1">
                                  <a:latin typeface="Cambria Math" panose="02040503050406030204" pitchFamily="18" charset="0"/>
                                </a:rPr>
                                <m:t>𝐼</m:t>
                              </m:r>
                            </m:e>
                            <m:sub>
                              <m:r>
                                <a:rPr lang="es-MX" i="1">
                                  <a:latin typeface="Cambria Math" panose="02040503050406030204" pitchFamily="18" charset="0"/>
                                </a:rPr>
                                <m:t>𝑧𝑧</m:t>
                              </m:r>
                            </m:sub>
                          </m:sSub>
                        </m:den>
                      </m:f>
                      <m:acc>
                        <m:accPr>
                          <m:chr m:val="̇"/>
                          <m:ctrlPr>
                            <a:rPr lang="es-MX" i="1">
                              <a:latin typeface="Cambria Math" panose="02040503050406030204" pitchFamily="18" charset="0"/>
                            </a:rPr>
                          </m:ctrlPr>
                        </m:accPr>
                        <m:e>
                          <m:r>
                            <a:rPr lang="es-MX" i="1">
                              <a:latin typeface="Cambria Math" panose="02040503050406030204" pitchFamily="18" charset="0"/>
                            </a:rPr>
                            <m:t>𝜙</m:t>
                          </m:r>
                        </m:e>
                      </m:acc>
                      <m:acc>
                        <m:accPr>
                          <m:chr m:val="̇"/>
                          <m:ctrlPr>
                            <a:rPr lang="es-MX" i="1">
                              <a:latin typeface="Cambria Math" panose="02040503050406030204" pitchFamily="18" charset="0"/>
                            </a:rPr>
                          </m:ctrlPr>
                        </m:accPr>
                        <m:e>
                          <m:r>
                            <a:rPr lang="es-MX" i="1">
                              <a:latin typeface="Cambria Math" panose="02040503050406030204" pitchFamily="18" charset="0"/>
                            </a:rPr>
                            <m:t>𝜃</m:t>
                          </m:r>
                        </m:e>
                      </m:acc>
                    </m:oMath>
                  </m:oMathPara>
                </a14:m>
                <a:endParaRPr lang="es-MX"/>
              </a:p>
            </p:txBody>
          </p:sp>
        </mc:Choice>
        <mc:Fallback>
          <p:sp>
            <p:nvSpPr>
              <p:cNvPr id="5" name="Rectángulo: esquinas redondeadas 4">
                <a:extLst>
                  <a:ext uri="{FF2B5EF4-FFF2-40B4-BE49-F238E27FC236}">
                    <a16:creationId xmlns:a16="http://schemas.microsoft.com/office/drawing/2014/main" id="{F0C989E4-A07C-A61D-D74F-668A5769A6D8}"/>
                  </a:ext>
                </a:extLst>
              </p:cNvPr>
              <p:cNvSpPr>
                <a:spLocks noRot="1" noChangeAspect="1" noMove="1" noResize="1" noEditPoints="1" noAdjustHandles="1" noChangeArrowheads="1" noChangeShapeType="1" noTextEdit="1"/>
              </p:cNvSpPr>
              <p:nvPr/>
            </p:nvSpPr>
            <p:spPr>
              <a:xfrm>
                <a:off x="16429801" y="13853161"/>
                <a:ext cx="15249378" cy="16783494"/>
              </a:xfrm>
              <a:prstGeom prst="roundRect">
                <a:avLst>
                  <a:gd name="adj" fmla="val 4269"/>
                </a:avLst>
              </a:prstGeom>
              <a:blipFill>
                <a:blip r:embed="rId2"/>
                <a:stretch>
                  <a:fillRect/>
                </a:stretch>
              </a:blipFill>
              <a:ln w="76200"/>
            </p:spPr>
            <p:txBody>
              <a:bodyPr/>
              <a:lstStyle/>
              <a:p>
                <a:r>
                  <a:rPr lang="es-MX">
                    <a:noFill/>
                  </a:rPr>
                  <a:t> </a:t>
                </a:r>
              </a:p>
            </p:txBody>
          </p:sp>
        </mc:Fallback>
      </mc:AlternateContent>
      <p:sp>
        <p:nvSpPr>
          <p:cNvPr id="6" name="Rectángulo: esquinas redondeadas 5">
            <a:extLst>
              <a:ext uri="{FF2B5EF4-FFF2-40B4-BE49-F238E27FC236}">
                <a16:creationId xmlns:a16="http://schemas.microsoft.com/office/drawing/2014/main" id="{060AC830-9057-ABAC-76A4-1800761BB60C}"/>
              </a:ext>
            </a:extLst>
          </p:cNvPr>
          <p:cNvSpPr/>
          <p:nvPr/>
        </p:nvSpPr>
        <p:spPr>
          <a:xfrm>
            <a:off x="670560" y="9002256"/>
            <a:ext cx="31058168" cy="3941414"/>
          </a:xfrm>
          <a:prstGeom prst="roundRect">
            <a:avLst>
              <a:gd name="adj" fmla="val 7667"/>
            </a:avLst>
          </a:prstGeom>
          <a:solidFill>
            <a:srgbClr val="DEEBF7">
              <a:alpha val="40000"/>
            </a:srgbClr>
          </a:solid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CuadroTexto 6">
            <a:extLst>
              <a:ext uri="{FF2B5EF4-FFF2-40B4-BE49-F238E27FC236}">
                <a16:creationId xmlns:a16="http://schemas.microsoft.com/office/drawing/2014/main" id="{AC0FE9D1-9584-6FC2-4DFF-89A06778D20B}"/>
              </a:ext>
            </a:extLst>
          </p:cNvPr>
          <p:cNvSpPr txBox="1"/>
          <p:nvPr/>
        </p:nvSpPr>
        <p:spPr>
          <a:xfrm>
            <a:off x="1402080" y="8747760"/>
            <a:ext cx="5120640" cy="851297"/>
          </a:xfrm>
          <a:prstGeom prst="roundRect">
            <a:avLst/>
          </a:prstGeom>
          <a:solidFill>
            <a:schemeClr val="accent1">
              <a:lumMod val="50000"/>
            </a:schemeClr>
          </a:solidFill>
        </p:spPr>
        <p:txBody>
          <a:bodyPr wrap="square" rtlCol="0">
            <a:spAutoFit/>
          </a:bodyPr>
          <a:lstStyle/>
          <a:p>
            <a:pPr algn="ctr"/>
            <a:r>
              <a:rPr lang="es-MX" sz="4400" dirty="0">
                <a:solidFill>
                  <a:schemeClr val="bg1"/>
                </a:solidFill>
              </a:rPr>
              <a:t>Resumen</a:t>
            </a:r>
            <a:endParaRPr lang="es-MX" sz="5000" dirty="0">
              <a:solidFill>
                <a:schemeClr val="bg1"/>
              </a:solidFill>
            </a:endParaRPr>
          </a:p>
        </p:txBody>
      </p:sp>
      <p:sp>
        <p:nvSpPr>
          <p:cNvPr id="8" name="CuadroTexto 7">
            <a:extLst>
              <a:ext uri="{FF2B5EF4-FFF2-40B4-BE49-F238E27FC236}">
                <a16:creationId xmlns:a16="http://schemas.microsoft.com/office/drawing/2014/main" id="{CB56BF31-6CF5-7C72-AC46-65456CA1C6EC}"/>
              </a:ext>
            </a:extLst>
          </p:cNvPr>
          <p:cNvSpPr txBox="1"/>
          <p:nvPr/>
        </p:nvSpPr>
        <p:spPr>
          <a:xfrm>
            <a:off x="1402080" y="13412192"/>
            <a:ext cx="5120640" cy="851297"/>
          </a:xfrm>
          <a:prstGeom prst="roundRect">
            <a:avLst/>
          </a:prstGeom>
          <a:solidFill>
            <a:schemeClr val="accent1">
              <a:lumMod val="50000"/>
            </a:schemeClr>
          </a:solidFill>
        </p:spPr>
        <p:txBody>
          <a:bodyPr wrap="square" rtlCol="0">
            <a:spAutoFit/>
          </a:bodyPr>
          <a:lstStyle/>
          <a:p>
            <a:pPr algn="ctr"/>
            <a:r>
              <a:rPr lang="es-MX" sz="4400" dirty="0">
                <a:solidFill>
                  <a:schemeClr val="bg1"/>
                </a:solidFill>
              </a:rPr>
              <a:t>Objetivos</a:t>
            </a:r>
            <a:endParaRPr lang="es-MX" sz="5000" dirty="0">
              <a:solidFill>
                <a:schemeClr val="bg1"/>
              </a:solidFill>
            </a:endParaRPr>
          </a:p>
        </p:txBody>
      </p:sp>
      <p:sp>
        <p:nvSpPr>
          <p:cNvPr id="9" name="CuadroTexto 8">
            <a:extLst>
              <a:ext uri="{FF2B5EF4-FFF2-40B4-BE49-F238E27FC236}">
                <a16:creationId xmlns:a16="http://schemas.microsoft.com/office/drawing/2014/main" id="{2095D55E-1C70-29B7-4687-6EA53DB48DF6}"/>
              </a:ext>
            </a:extLst>
          </p:cNvPr>
          <p:cNvSpPr txBox="1"/>
          <p:nvPr/>
        </p:nvSpPr>
        <p:spPr>
          <a:xfrm>
            <a:off x="1402080" y="21143481"/>
            <a:ext cx="5120640" cy="851297"/>
          </a:xfrm>
          <a:prstGeom prst="roundRect">
            <a:avLst/>
          </a:prstGeom>
          <a:solidFill>
            <a:schemeClr val="accent1">
              <a:lumMod val="50000"/>
            </a:schemeClr>
          </a:solidFill>
        </p:spPr>
        <p:txBody>
          <a:bodyPr wrap="square" rtlCol="0">
            <a:spAutoFit/>
          </a:bodyPr>
          <a:lstStyle/>
          <a:p>
            <a:pPr algn="ctr"/>
            <a:r>
              <a:rPr lang="es-MX" sz="4400" dirty="0">
                <a:solidFill>
                  <a:schemeClr val="bg1"/>
                </a:solidFill>
              </a:rPr>
              <a:t>Desarrollo</a:t>
            </a:r>
            <a:endParaRPr lang="es-MX" sz="5000" dirty="0">
              <a:solidFill>
                <a:schemeClr val="bg1"/>
              </a:solidFill>
            </a:endParaRPr>
          </a:p>
        </p:txBody>
      </p:sp>
      <p:sp>
        <p:nvSpPr>
          <p:cNvPr id="10" name="CuadroTexto 9">
            <a:extLst>
              <a:ext uri="{FF2B5EF4-FFF2-40B4-BE49-F238E27FC236}">
                <a16:creationId xmlns:a16="http://schemas.microsoft.com/office/drawing/2014/main" id="{77CD4FB8-18BC-2D3D-BB51-1BB62BF4CDC1}"/>
              </a:ext>
            </a:extLst>
          </p:cNvPr>
          <p:cNvSpPr txBox="1"/>
          <p:nvPr/>
        </p:nvSpPr>
        <p:spPr>
          <a:xfrm>
            <a:off x="17068800" y="31160796"/>
            <a:ext cx="5120640" cy="851297"/>
          </a:xfrm>
          <a:prstGeom prst="roundRect">
            <a:avLst/>
          </a:prstGeom>
          <a:solidFill>
            <a:schemeClr val="accent1">
              <a:lumMod val="50000"/>
            </a:schemeClr>
          </a:solidFill>
        </p:spPr>
        <p:txBody>
          <a:bodyPr wrap="square" rtlCol="0">
            <a:spAutoFit/>
          </a:bodyPr>
          <a:lstStyle/>
          <a:p>
            <a:pPr algn="ctr"/>
            <a:r>
              <a:rPr lang="es-MX" sz="4400" dirty="0">
                <a:solidFill>
                  <a:schemeClr val="bg1"/>
                </a:solidFill>
              </a:rPr>
              <a:t>Conclusiones</a:t>
            </a:r>
            <a:endParaRPr lang="es-MX" sz="5000" dirty="0">
              <a:solidFill>
                <a:schemeClr val="bg1"/>
              </a:solidFill>
            </a:endParaRPr>
          </a:p>
        </p:txBody>
      </p:sp>
      <p:sp>
        <p:nvSpPr>
          <p:cNvPr id="11" name="CuadroTexto 10">
            <a:extLst>
              <a:ext uri="{FF2B5EF4-FFF2-40B4-BE49-F238E27FC236}">
                <a16:creationId xmlns:a16="http://schemas.microsoft.com/office/drawing/2014/main" id="{E85D9ED9-B078-4BCF-0100-0868180BD37A}"/>
              </a:ext>
            </a:extLst>
          </p:cNvPr>
          <p:cNvSpPr txBox="1"/>
          <p:nvPr/>
        </p:nvSpPr>
        <p:spPr>
          <a:xfrm>
            <a:off x="17068800" y="37697152"/>
            <a:ext cx="5120640" cy="851297"/>
          </a:xfrm>
          <a:prstGeom prst="roundRect">
            <a:avLst/>
          </a:prstGeom>
          <a:solidFill>
            <a:schemeClr val="accent1">
              <a:lumMod val="50000"/>
            </a:schemeClr>
          </a:solidFill>
        </p:spPr>
        <p:txBody>
          <a:bodyPr wrap="square" rtlCol="0">
            <a:spAutoFit/>
          </a:bodyPr>
          <a:lstStyle/>
          <a:p>
            <a:pPr algn="ctr"/>
            <a:r>
              <a:rPr lang="es-MX" sz="4400" dirty="0">
                <a:solidFill>
                  <a:schemeClr val="bg1"/>
                </a:solidFill>
              </a:rPr>
              <a:t>Referencias</a:t>
            </a:r>
            <a:endParaRPr lang="es-MX" sz="5000" dirty="0">
              <a:solidFill>
                <a:schemeClr val="bg1"/>
              </a:solidFill>
            </a:endParaRPr>
          </a:p>
        </p:txBody>
      </p:sp>
      <p:sp>
        <p:nvSpPr>
          <p:cNvPr id="14" name="CuadroTexto 13">
            <a:extLst>
              <a:ext uri="{FF2B5EF4-FFF2-40B4-BE49-F238E27FC236}">
                <a16:creationId xmlns:a16="http://schemas.microsoft.com/office/drawing/2014/main" id="{3469DE0C-6EB5-F9AC-4B94-690615022225}"/>
              </a:ext>
            </a:extLst>
          </p:cNvPr>
          <p:cNvSpPr txBox="1"/>
          <p:nvPr/>
        </p:nvSpPr>
        <p:spPr>
          <a:xfrm>
            <a:off x="17068800" y="21408698"/>
            <a:ext cx="5120640" cy="851297"/>
          </a:xfrm>
          <a:prstGeom prst="roundRect">
            <a:avLst/>
          </a:prstGeom>
          <a:solidFill>
            <a:schemeClr val="accent1">
              <a:lumMod val="50000"/>
            </a:schemeClr>
          </a:solidFill>
        </p:spPr>
        <p:txBody>
          <a:bodyPr wrap="square" rtlCol="0">
            <a:spAutoFit/>
          </a:bodyPr>
          <a:lstStyle/>
          <a:p>
            <a:pPr algn="ctr"/>
            <a:r>
              <a:rPr lang="es-MX" sz="4400" dirty="0">
                <a:solidFill>
                  <a:schemeClr val="bg1"/>
                </a:solidFill>
              </a:rPr>
              <a:t>Resultados</a:t>
            </a:r>
            <a:endParaRPr lang="es-MX" sz="5000" dirty="0">
              <a:solidFill>
                <a:schemeClr val="bg1"/>
              </a:solidFill>
            </a:endParaRPr>
          </a:p>
        </p:txBody>
      </p:sp>
      <p:sp>
        <p:nvSpPr>
          <p:cNvPr id="3" name="CuadroTexto 2">
            <a:extLst>
              <a:ext uri="{FF2B5EF4-FFF2-40B4-BE49-F238E27FC236}">
                <a16:creationId xmlns:a16="http://schemas.microsoft.com/office/drawing/2014/main" id="{6326C99D-7B22-1D5E-159E-C9C6370D1A17}"/>
              </a:ext>
            </a:extLst>
          </p:cNvPr>
          <p:cNvSpPr txBox="1"/>
          <p:nvPr/>
        </p:nvSpPr>
        <p:spPr>
          <a:xfrm>
            <a:off x="883920" y="4266752"/>
            <a:ext cx="29842742" cy="1107996"/>
          </a:xfrm>
          <a:prstGeom prst="rect">
            <a:avLst/>
          </a:prstGeom>
          <a:noFill/>
        </p:spPr>
        <p:txBody>
          <a:bodyPr wrap="square" rtlCol="0">
            <a:spAutoFit/>
          </a:bodyPr>
          <a:lstStyle/>
          <a:p>
            <a:pPr algn="ctr"/>
            <a:r>
              <a:rPr lang="es-MX" sz="6600" b="1" dirty="0"/>
              <a:t>Caracterización de ruido en reconstrucción de trayectoria basada en </a:t>
            </a:r>
            <a:r>
              <a:rPr lang="es-MX" sz="6600" b="1" dirty="0" err="1"/>
              <a:t>IMU´s</a:t>
            </a:r>
            <a:endParaRPr lang="es-MX" sz="6600" b="1" dirty="0"/>
          </a:p>
        </p:txBody>
      </p:sp>
      <p:sp>
        <p:nvSpPr>
          <p:cNvPr id="21" name="CuadroTexto 20">
            <a:extLst>
              <a:ext uri="{FF2B5EF4-FFF2-40B4-BE49-F238E27FC236}">
                <a16:creationId xmlns:a16="http://schemas.microsoft.com/office/drawing/2014/main" id="{E17D7059-9872-0060-A8F2-1ED67CDC81D0}"/>
              </a:ext>
            </a:extLst>
          </p:cNvPr>
          <p:cNvSpPr txBox="1"/>
          <p:nvPr/>
        </p:nvSpPr>
        <p:spPr>
          <a:xfrm>
            <a:off x="991405" y="9542689"/>
            <a:ext cx="30480000" cy="2831544"/>
          </a:xfrm>
          <a:prstGeom prst="rect">
            <a:avLst/>
          </a:prstGeom>
          <a:noFill/>
        </p:spPr>
        <p:txBody>
          <a:bodyPr wrap="square" rtlCol="0">
            <a:spAutoFit/>
          </a:bodyPr>
          <a:lstStyle/>
          <a:p>
            <a:pPr algn="just"/>
            <a:r>
              <a:rPr lang="es-MX" sz="4000" kern="100" dirty="0">
                <a:effectLst/>
                <a:latin typeface="Calibri" panose="020F0502020204030204" pitchFamily="34" charset="0"/>
                <a:ea typeface="Calibri" panose="020F0502020204030204" pitchFamily="34" charset="0"/>
                <a:cs typeface="Times New Roman" panose="02020603050405020304" pitchFamily="18" charset="0"/>
              </a:rPr>
              <a:t>El uso de Unidades de Medición Inercial (IMUs) como el TI </a:t>
            </a:r>
            <a:r>
              <a:rPr lang="es-MX" sz="4000" kern="100" dirty="0" err="1">
                <a:effectLst/>
                <a:latin typeface="Calibri" panose="020F0502020204030204" pitchFamily="34" charset="0"/>
                <a:ea typeface="Calibri" panose="020F0502020204030204" pitchFamily="34" charset="0"/>
                <a:cs typeface="Times New Roman" panose="02020603050405020304" pitchFamily="18" charset="0"/>
              </a:rPr>
              <a:t>SensorTag</a:t>
            </a:r>
            <a:r>
              <a:rPr lang="es-MX" sz="4000" kern="100" dirty="0">
                <a:effectLst/>
                <a:latin typeface="Calibri" panose="020F0502020204030204" pitchFamily="34" charset="0"/>
                <a:ea typeface="Calibri" panose="020F0502020204030204" pitchFamily="34" charset="0"/>
                <a:cs typeface="Times New Roman" panose="02020603050405020304" pitchFamily="18" charset="0"/>
              </a:rPr>
              <a:t> CC2560 en la estimación de trayectoria presenta un reto significativo debido a la acumulación de error por diferentes tipos de ruido. Este trabajo aborda la caracterización del ruido y el modelado de errores en acelerómetros y giroscopios para mitigar la deriva (</a:t>
            </a:r>
            <a:r>
              <a:rPr lang="es-MX" sz="4000" kern="100" dirty="0" err="1">
                <a:effectLst/>
                <a:latin typeface="Calibri" panose="020F0502020204030204" pitchFamily="34" charset="0"/>
                <a:ea typeface="Calibri" panose="020F0502020204030204" pitchFamily="34" charset="0"/>
                <a:cs typeface="Times New Roman" panose="02020603050405020304" pitchFamily="18" charset="0"/>
              </a:rPr>
              <a:t>drift</a:t>
            </a:r>
            <a:r>
              <a:rPr lang="es-MX" sz="4000" kern="100" dirty="0">
                <a:effectLst/>
                <a:latin typeface="Calibri" panose="020F0502020204030204" pitchFamily="34" charset="0"/>
                <a:ea typeface="Calibri" panose="020F0502020204030204" pitchFamily="34" charset="0"/>
                <a:cs typeface="Times New Roman" panose="02020603050405020304" pitchFamily="18" charset="0"/>
              </a:rPr>
              <a:t>) en la detección de movimiento. Mediante un modelo matricial de calibración, la transformación de </a:t>
            </a:r>
            <a:r>
              <a:rPr lang="es-MX" sz="4000" kern="100" dirty="0" err="1">
                <a:effectLst/>
                <a:latin typeface="Calibri" panose="020F0502020204030204" pitchFamily="34" charset="0"/>
                <a:ea typeface="Calibri" panose="020F0502020204030204" pitchFamily="34" charset="0"/>
                <a:cs typeface="Times New Roman" panose="02020603050405020304" pitchFamily="18" charset="0"/>
              </a:rPr>
              <a:t>Rodrigues</a:t>
            </a:r>
            <a:r>
              <a:rPr lang="es-MX" sz="4000" kern="100" dirty="0">
                <a:effectLst/>
                <a:latin typeface="Calibri" panose="020F0502020204030204" pitchFamily="34" charset="0"/>
                <a:ea typeface="Calibri" panose="020F0502020204030204" pitchFamily="34" charset="0"/>
                <a:cs typeface="Times New Roman" panose="02020603050405020304" pitchFamily="18" charset="0"/>
              </a:rPr>
              <a:t>, se corrigen los componentes deterministas (sesgo, escala y desalineamiento), sentando las bases para una reconstrucción precisa. </a:t>
            </a:r>
          </a:p>
          <a:p>
            <a:endParaRPr lang="es-MX" dirty="0"/>
          </a:p>
        </p:txBody>
      </p:sp>
      <p:sp>
        <p:nvSpPr>
          <p:cNvPr id="22" name="CuadroTexto 21">
            <a:extLst>
              <a:ext uri="{FF2B5EF4-FFF2-40B4-BE49-F238E27FC236}">
                <a16:creationId xmlns:a16="http://schemas.microsoft.com/office/drawing/2014/main" id="{0490C33E-106A-3EBE-43E6-E39655B4E006}"/>
              </a:ext>
            </a:extLst>
          </p:cNvPr>
          <p:cNvSpPr txBox="1"/>
          <p:nvPr/>
        </p:nvSpPr>
        <p:spPr>
          <a:xfrm>
            <a:off x="1331347" y="14516847"/>
            <a:ext cx="13624560" cy="5724644"/>
          </a:xfrm>
          <a:prstGeom prst="rect">
            <a:avLst/>
          </a:prstGeom>
          <a:noFill/>
        </p:spPr>
        <p:txBody>
          <a:bodyPr wrap="square" rtlCol="0">
            <a:spAutoFit/>
          </a:bodyPr>
          <a:lstStyle/>
          <a:p>
            <a:r>
              <a:rPr lang="es-MX" sz="4000" dirty="0"/>
              <a:t>Caracterizar los tipos de ruido en sensores inerciales e implementar un protocolo de calibración para mejorar precisión en la detección de movimiento.</a:t>
            </a:r>
          </a:p>
          <a:p>
            <a:pPr marL="571500" indent="-571500">
              <a:buFont typeface="Arial" panose="020B0604020202020204" pitchFamily="34" charset="0"/>
              <a:buChar char="•"/>
            </a:pPr>
            <a:r>
              <a:rPr lang="es-MX" sz="4000" b="1" dirty="0"/>
              <a:t>Modelar la matriz de error determinista del acelerómetro</a:t>
            </a:r>
            <a:r>
              <a:rPr lang="es-MX" sz="4000" dirty="0"/>
              <a:t>.</a:t>
            </a:r>
          </a:p>
          <a:p>
            <a:pPr marL="571500" indent="-571500">
              <a:buFont typeface="Arial" panose="020B0604020202020204" pitchFamily="34" charset="0"/>
              <a:buChar char="•"/>
            </a:pPr>
            <a:endParaRPr lang="es-MX" dirty="0"/>
          </a:p>
          <a:p>
            <a:pPr marL="571500" indent="-571500">
              <a:buFont typeface="Arial" panose="020B0604020202020204" pitchFamily="34" charset="0"/>
              <a:buChar char="•"/>
            </a:pPr>
            <a:r>
              <a:rPr lang="es-MX" sz="4000" b="1" dirty="0"/>
              <a:t>Implementar la transformación de </a:t>
            </a:r>
            <a:r>
              <a:rPr lang="es-MX" sz="4000" b="1" dirty="0" err="1"/>
              <a:t>Rodrigues</a:t>
            </a:r>
            <a:r>
              <a:rPr lang="es-MX" sz="4000" b="1" dirty="0"/>
              <a:t> </a:t>
            </a:r>
            <a:r>
              <a:rPr lang="es-MX" sz="4000" dirty="0"/>
              <a:t>y el método de </a:t>
            </a:r>
            <a:r>
              <a:rPr lang="es-MX" sz="4000" b="1" dirty="0"/>
              <a:t>Pseudoinversa </a:t>
            </a:r>
            <a:r>
              <a:rPr lang="es-MX" sz="4000" dirty="0"/>
              <a:t>para estimar los parámetros de calibración.</a:t>
            </a:r>
          </a:p>
          <a:p>
            <a:pPr marL="571500" indent="-571500">
              <a:buFont typeface="Arial" panose="020B0604020202020204" pitchFamily="34" charset="0"/>
              <a:buChar char="•"/>
            </a:pPr>
            <a:endParaRPr lang="es-MX" dirty="0"/>
          </a:p>
          <a:p>
            <a:pPr marL="571500" indent="-571500">
              <a:buFont typeface="Arial" panose="020B0604020202020204" pitchFamily="34" charset="0"/>
              <a:buChar char="•"/>
            </a:pPr>
            <a:r>
              <a:rPr lang="es-MX" sz="4000" dirty="0"/>
              <a:t>Evaluar la detección de movimiento comparando la respuesta del sistema </a:t>
            </a:r>
            <a:r>
              <a:rPr lang="es-MX" sz="4000" b="1" dirty="0"/>
              <a:t>antes y después del proceso de calibración</a:t>
            </a:r>
            <a:r>
              <a:rPr lang="es-MX" sz="4000" dirty="0"/>
              <a:t>.</a:t>
            </a:r>
          </a:p>
        </p:txBody>
      </p:sp>
      <p:sp>
        <p:nvSpPr>
          <p:cNvPr id="24" name="CuadroTexto 23">
            <a:extLst>
              <a:ext uri="{FF2B5EF4-FFF2-40B4-BE49-F238E27FC236}">
                <a16:creationId xmlns:a16="http://schemas.microsoft.com/office/drawing/2014/main" id="{CD453642-642E-5B59-B5F6-98DE6BEE8E0F}"/>
              </a:ext>
            </a:extLst>
          </p:cNvPr>
          <p:cNvSpPr txBox="1"/>
          <p:nvPr/>
        </p:nvSpPr>
        <p:spPr>
          <a:xfrm>
            <a:off x="1672625" y="6013129"/>
            <a:ext cx="29081695" cy="2215991"/>
          </a:xfrm>
          <a:prstGeom prst="rect">
            <a:avLst/>
          </a:prstGeom>
          <a:noFill/>
        </p:spPr>
        <p:txBody>
          <a:bodyPr wrap="square" rtlCol="0">
            <a:spAutoFit/>
          </a:bodyPr>
          <a:lstStyle/>
          <a:p>
            <a:pPr algn="ctr"/>
            <a:r>
              <a:rPr lang="es-MX" sz="4000" b="1" dirty="0"/>
              <a:t>Christian Velazquez-Vargas, Zahid Martínez-Cortez, Christian Verastegui-</a:t>
            </a:r>
            <a:r>
              <a:rPr lang="es-MX" sz="4000" b="1" dirty="0" err="1"/>
              <a:t>Aboites</a:t>
            </a:r>
            <a:endParaRPr lang="es-MX" sz="4000" b="1" dirty="0"/>
          </a:p>
          <a:p>
            <a:pPr algn="ctr"/>
            <a:r>
              <a:rPr lang="es-MX" sz="4000" b="1" dirty="0"/>
              <a:t>Unidad Monterrey del Centro de Investigación Científica y Educación Superior de Ensenada.</a:t>
            </a:r>
          </a:p>
          <a:p>
            <a:pPr algn="ctr"/>
            <a:r>
              <a:rPr lang="es-MX" sz="4000" b="1" dirty="0">
                <a:hlinkClick r:id="rId3"/>
              </a:rPr>
              <a:t>cvelazquez3@ucol.mx</a:t>
            </a:r>
            <a:r>
              <a:rPr lang="es-MX" sz="4000" b="1" dirty="0"/>
              <a:t>, </a:t>
            </a:r>
            <a:r>
              <a:rPr lang="es-MX" sz="4000" b="1" dirty="0">
                <a:hlinkClick r:id="rId4"/>
              </a:rPr>
              <a:t>302510822@ute.edu.mx</a:t>
            </a:r>
            <a:r>
              <a:rPr lang="es-MX" sz="4000" b="1" dirty="0"/>
              <a:t>, </a:t>
            </a:r>
            <a:r>
              <a:rPr lang="es-MX" sz="4000" b="1" dirty="0">
                <a:hlinkClick r:id="rId5"/>
              </a:rPr>
              <a:t>cristianaboites0@gmail.com</a:t>
            </a:r>
            <a:r>
              <a:rPr lang="es-MX" sz="4000" b="1" dirty="0"/>
              <a:t>,  </a:t>
            </a:r>
            <a:r>
              <a:rPr lang="es-MX" sz="4000" b="1" dirty="0">
                <a:hlinkClick r:id="rId6"/>
              </a:rPr>
              <a:t>agalaviz@cicese.edu.mx</a:t>
            </a:r>
            <a:r>
              <a:rPr lang="es-MX" sz="4000" b="1" dirty="0"/>
              <a:t> </a:t>
            </a:r>
          </a:p>
          <a:p>
            <a:endParaRPr lang="es-MX" dirty="0"/>
          </a:p>
        </p:txBody>
      </p:sp>
      <p:sp>
        <p:nvSpPr>
          <p:cNvPr id="43" name="CuadroTexto 42">
            <a:extLst>
              <a:ext uri="{FF2B5EF4-FFF2-40B4-BE49-F238E27FC236}">
                <a16:creationId xmlns:a16="http://schemas.microsoft.com/office/drawing/2014/main" id="{35928CF8-856C-8533-15A4-5D933A912DD5}"/>
              </a:ext>
            </a:extLst>
          </p:cNvPr>
          <p:cNvSpPr txBox="1"/>
          <p:nvPr/>
        </p:nvSpPr>
        <p:spPr>
          <a:xfrm>
            <a:off x="991405" y="22459994"/>
            <a:ext cx="13258800" cy="769441"/>
          </a:xfrm>
          <a:prstGeom prst="rect">
            <a:avLst/>
          </a:prstGeom>
          <a:noFill/>
        </p:spPr>
        <p:txBody>
          <a:bodyPr wrap="square" rtlCol="0">
            <a:spAutoFit/>
          </a:bodyPr>
          <a:lstStyle/>
          <a:p>
            <a:r>
              <a:rPr lang="es-MX" sz="4400" dirty="0"/>
              <a:t>	Calibración del acelerómetro</a:t>
            </a:r>
          </a:p>
        </p:txBody>
      </p:sp>
      <p:sp>
        <p:nvSpPr>
          <p:cNvPr id="131" name="CuadroTexto 130">
            <a:extLst>
              <a:ext uri="{FF2B5EF4-FFF2-40B4-BE49-F238E27FC236}">
                <a16:creationId xmlns:a16="http://schemas.microsoft.com/office/drawing/2014/main" id="{1AB72982-7C54-DE86-F98F-001CB48F4706}"/>
              </a:ext>
            </a:extLst>
          </p:cNvPr>
          <p:cNvSpPr txBox="1"/>
          <p:nvPr/>
        </p:nvSpPr>
        <p:spPr>
          <a:xfrm>
            <a:off x="17010136" y="32452012"/>
            <a:ext cx="14295120" cy="4524315"/>
          </a:xfrm>
          <a:prstGeom prst="rect">
            <a:avLst/>
          </a:prstGeom>
          <a:noFill/>
        </p:spPr>
        <p:txBody>
          <a:bodyPr wrap="square" rtlCol="0">
            <a:spAutoFit/>
          </a:bodyPr>
          <a:lstStyle/>
          <a:p>
            <a:pPr algn="just"/>
            <a:r>
              <a:rPr lang="es-MX" sz="3600" kern="100" dirty="0">
                <a:effectLst/>
                <a:latin typeface="Calibri" panose="020F0502020204030204" pitchFamily="34" charset="0"/>
                <a:ea typeface="Calibri" panose="020F0502020204030204" pitchFamily="34" charset="0"/>
                <a:cs typeface="Times New Roman" panose="02020603050405020304" pitchFamily="18" charset="0"/>
              </a:rPr>
              <a:t>La plataforma de simulación propuesta permite simular un grupo de robots cudrirrotores realizando un vuelo en formación siguiendo una trayectoria de referencia. El simulador de red permite transmitir la información del líder a los seguidores, mientras que el movimiento de cada robot es calculado por el simulador de vuelo en base a la información recibida. Al integrar estos dos simuladores se puede obtener una representación más cercana a la realidad y se pueden probar diferentes mecanismos de control y comunicación para analizar </a:t>
            </a:r>
            <a:r>
              <a:rPr lang="es-MX" sz="3600" kern="100" dirty="0">
                <a:latin typeface="Calibri" panose="020F0502020204030204" pitchFamily="34" charset="0"/>
                <a:ea typeface="Calibri" panose="020F0502020204030204" pitchFamily="34" charset="0"/>
                <a:cs typeface="Times New Roman" panose="02020603050405020304" pitchFamily="18" charset="0"/>
              </a:rPr>
              <a:t>su desempeño en este sistema complejo.</a:t>
            </a:r>
            <a:endParaRPr lang="es-MX" dirty="0"/>
          </a:p>
        </p:txBody>
      </p:sp>
      <p:sp>
        <p:nvSpPr>
          <p:cNvPr id="132" name="CuadroTexto 131">
            <a:extLst>
              <a:ext uri="{FF2B5EF4-FFF2-40B4-BE49-F238E27FC236}">
                <a16:creationId xmlns:a16="http://schemas.microsoft.com/office/drawing/2014/main" id="{9AE98A1D-E69D-8B40-2C87-7A87774DE5C7}"/>
              </a:ext>
            </a:extLst>
          </p:cNvPr>
          <p:cNvSpPr txBox="1"/>
          <p:nvPr/>
        </p:nvSpPr>
        <p:spPr>
          <a:xfrm>
            <a:off x="17271940" y="38842446"/>
            <a:ext cx="14091980" cy="4062651"/>
          </a:xfrm>
          <a:prstGeom prst="rect">
            <a:avLst/>
          </a:prstGeom>
          <a:noFill/>
        </p:spPr>
        <p:txBody>
          <a:bodyPr wrap="square" rtlCol="0">
            <a:spAutoFit/>
          </a:bodyPr>
          <a:lstStyle/>
          <a:p>
            <a:r>
              <a:rPr lang="es-MX" sz="2400" b="0" i="0" u="none" strike="noStrike" dirty="0">
                <a:solidFill>
                  <a:srgbClr val="000000"/>
                </a:solidFill>
                <a:effectLst/>
                <a:latin typeface="Calibri" panose="020F0502020204030204" pitchFamily="34" charset="0"/>
              </a:rPr>
              <a:t>[1] H. Do, H. Hua, M. Nguyen, C. Nguyen, H. Nguyen, et al., “Formation control algorithms for multiple-uavs: a comprehensive survey”, in EAI Endorsed Transactions on Industrial Networks and Intelligent Systems, vol. 8, no. 27, pp. e3-e3, 2021.</a:t>
            </a:r>
          </a:p>
          <a:p>
            <a:r>
              <a:rPr lang="es-MX" sz="2400" b="0" i="0" u="none" strike="noStrike" dirty="0">
                <a:solidFill>
                  <a:srgbClr val="000000"/>
                </a:solidFill>
                <a:effectLst/>
                <a:latin typeface="Calibri" panose="020F0502020204030204" pitchFamily="34" charset="0"/>
              </a:rPr>
              <a:t>[2] E. G. Cabral-Pacheco, S. Villarreal-Reyes, A. Galaviz-Mosqueda, S. Villarreal-Reyes, R. Rivera-</a:t>
            </a:r>
            <a:r>
              <a:rPr lang="es-MX" sz="2400" b="0" i="0" u="none" strike="noStrike" dirty="0" err="1">
                <a:solidFill>
                  <a:srgbClr val="000000"/>
                </a:solidFill>
                <a:effectLst/>
                <a:latin typeface="Calibri" panose="020F0502020204030204" pitchFamily="34" charset="0"/>
              </a:rPr>
              <a:t>Rodriguez</a:t>
            </a:r>
            <a:r>
              <a:rPr lang="es-MX" sz="2400" b="0" i="0" u="none" strike="noStrike" dirty="0">
                <a:solidFill>
                  <a:srgbClr val="000000"/>
                </a:solidFill>
                <a:effectLst/>
                <a:latin typeface="Calibri" panose="020F0502020204030204" pitchFamily="34" charset="0"/>
              </a:rPr>
              <a:t>, and A. E. Perez-Ramos, “Performance analysis of multi-hop broadcast protocols for distributed uav formation control applications” IEEE Access, vol. 7, pp. 113548–113577, 2019.</a:t>
            </a:r>
          </a:p>
          <a:p>
            <a:r>
              <a:rPr lang="es-MX" sz="2400" dirty="0">
                <a:solidFill>
                  <a:srgbClr val="000000"/>
                </a:solidFill>
                <a:latin typeface="Calibri" panose="020F0502020204030204" pitchFamily="34" charset="0"/>
              </a:rPr>
              <a:t>[3] D. Mellinger and V. Kumar, “Minimum snap trajectory generation and control for quadrotors," in Robotics and Automation (ICRA), 2011 IEEE International Conference on, pp. 2520-2525, IEEE, 2011.</a:t>
            </a:r>
          </a:p>
          <a:p>
            <a:endParaRPr lang="es-MX" sz="2400" b="0" i="0" u="none" strike="noStrike" dirty="0">
              <a:solidFill>
                <a:srgbClr val="000000"/>
              </a:solidFill>
              <a:effectLst/>
              <a:latin typeface="Calibri" panose="020F0502020204030204" pitchFamily="34" charset="0"/>
            </a:endParaRPr>
          </a:p>
          <a:p>
            <a:endParaRPr lang="es-MX" sz="2400" dirty="0">
              <a:effectLst/>
            </a:endParaRPr>
          </a:p>
          <a:p>
            <a:endParaRPr lang="es-MX" dirty="0"/>
          </a:p>
        </p:txBody>
      </p:sp>
      <p:grpSp>
        <p:nvGrpSpPr>
          <p:cNvPr id="135" name="Grupo 134">
            <a:extLst>
              <a:ext uri="{FF2B5EF4-FFF2-40B4-BE49-F238E27FC236}">
                <a16:creationId xmlns:a16="http://schemas.microsoft.com/office/drawing/2014/main" id="{CA835FFF-6A5C-D6E7-826D-E9727E60454F}"/>
              </a:ext>
            </a:extLst>
          </p:cNvPr>
          <p:cNvGrpSpPr/>
          <p:nvPr/>
        </p:nvGrpSpPr>
        <p:grpSpPr>
          <a:xfrm>
            <a:off x="18716337" y="16048874"/>
            <a:ext cx="11000045" cy="4702698"/>
            <a:chOff x="348831" y="1082684"/>
            <a:chExt cx="11000045" cy="4702698"/>
          </a:xfrm>
        </p:grpSpPr>
        <p:sp>
          <p:nvSpPr>
            <p:cNvPr id="136" name="CuadroTexto 135">
              <a:extLst>
                <a:ext uri="{FF2B5EF4-FFF2-40B4-BE49-F238E27FC236}">
                  <a16:creationId xmlns:a16="http://schemas.microsoft.com/office/drawing/2014/main" id="{BF14B87F-7882-3659-7D5B-70AD6B987EB2}"/>
                </a:ext>
              </a:extLst>
            </p:cNvPr>
            <p:cNvSpPr txBox="1"/>
            <p:nvPr/>
          </p:nvSpPr>
          <p:spPr>
            <a:xfrm>
              <a:off x="348832" y="2606721"/>
              <a:ext cx="3547409" cy="1077218"/>
            </a:xfrm>
            <a:prstGeom prst="rect">
              <a:avLst/>
            </a:prstGeom>
            <a:solidFill>
              <a:schemeClr val="bg1"/>
            </a:solidFill>
            <a:ln w="38100"/>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3200" b="1" dirty="0"/>
                <a:t>OMNeT++</a:t>
              </a:r>
            </a:p>
            <a:p>
              <a:pPr algn="ctr"/>
              <a:r>
                <a:rPr lang="es-MX" sz="3200" b="1" dirty="0"/>
                <a:t>Simulador de Red</a:t>
              </a:r>
            </a:p>
          </p:txBody>
        </p:sp>
        <p:sp>
          <p:nvSpPr>
            <p:cNvPr id="137" name="CuadroTexto 136">
              <a:extLst>
                <a:ext uri="{FF2B5EF4-FFF2-40B4-BE49-F238E27FC236}">
                  <a16:creationId xmlns:a16="http://schemas.microsoft.com/office/drawing/2014/main" id="{5335A06A-D779-4A95-0126-BB6FDDAD951D}"/>
                </a:ext>
              </a:extLst>
            </p:cNvPr>
            <p:cNvSpPr txBox="1"/>
            <p:nvPr/>
          </p:nvSpPr>
          <p:spPr>
            <a:xfrm>
              <a:off x="348831" y="3690622"/>
              <a:ext cx="3547409" cy="1569660"/>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3200" dirty="0"/>
                <a:t>Eventos de la red y actualiza la posición de los nodos.</a:t>
              </a:r>
            </a:p>
          </p:txBody>
        </p:sp>
        <p:sp>
          <p:nvSpPr>
            <p:cNvPr id="138" name="CuadroTexto 137">
              <a:extLst>
                <a:ext uri="{FF2B5EF4-FFF2-40B4-BE49-F238E27FC236}">
                  <a16:creationId xmlns:a16="http://schemas.microsoft.com/office/drawing/2014/main" id="{5A01D9C7-2F1F-FB0C-2766-3F7050D980F6}"/>
                </a:ext>
              </a:extLst>
            </p:cNvPr>
            <p:cNvSpPr txBox="1"/>
            <p:nvPr/>
          </p:nvSpPr>
          <p:spPr>
            <a:xfrm>
              <a:off x="7665484" y="2620369"/>
              <a:ext cx="3546000" cy="1077218"/>
            </a:xfrm>
            <a:prstGeom prst="rect">
              <a:avLst/>
            </a:prstGeom>
            <a:solidFill>
              <a:schemeClr val="bg1"/>
            </a:solidFill>
            <a:ln w="38100"/>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3200" b="1" dirty="0"/>
                <a:t>Scilab</a:t>
              </a:r>
            </a:p>
            <a:p>
              <a:pPr algn="ctr"/>
              <a:r>
                <a:rPr lang="es-MX" sz="3200" b="1" dirty="0"/>
                <a:t>Simulador de Vuelo</a:t>
              </a:r>
            </a:p>
          </p:txBody>
        </p:sp>
        <p:sp>
          <p:nvSpPr>
            <p:cNvPr id="139" name="CuadroTexto 138">
              <a:extLst>
                <a:ext uri="{FF2B5EF4-FFF2-40B4-BE49-F238E27FC236}">
                  <a16:creationId xmlns:a16="http://schemas.microsoft.com/office/drawing/2014/main" id="{7D3724EC-76AC-96E2-9471-F8E9AB722719}"/>
                </a:ext>
              </a:extLst>
            </p:cNvPr>
            <p:cNvSpPr txBox="1"/>
            <p:nvPr/>
          </p:nvSpPr>
          <p:spPr>
            <a:xfrm>
              <a:off x="7676370" y="3723279"/>
              <a:ext cx="3546000" cy="2062103"/>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3200" dirty="0"/>
                <a:t>Calcula la posición de los UAVs según esquemas de control.</a:t>
              </a:r>
            </a:p>
          </p:txBody>
        </p:sp>
        <p:sp>
          <p:nvSpPr>
            <p:cNvPr id="140" name="CuadroTexto 139">
              <a:extLst>
                <a:ext uri="{FF2B5EF4-FFF2-40B4-BE49-F238E27FC236}">
                  <a16:creationId xmlns:a16="http://schemas.microsoft.com/office/drawing/2014/main" id="{63CC4056-6582-EB04-3AAC-73B6EDD22EA5}"/>
                </a:ext>
              </a:extLst>
            </p:cNvPr>
            <p:cNvSpPr txBox="1"/>
            <p:nvPr/>
          </p:nvSpPr>
          <p:spPr>
            <a:xfrm>
              <a:off x="506096" y="1238532"/>
              <a:ext cx="2588517"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2400" dirty="0"/>
                <a:t>Parámetros de Red</a:t>
              </a:r>
            </a:p>
          </p:txBody>
        </p:sp>
        <p:sp>
          <p:nvSpPr>
            <p:cNvPr id="141" name="CuadroTexto 140">
              <a:extLst>
                <a:ext uri="{FF2B5EF4-FFF2-40B4-BE49-F238E27FC236}">
                  <a16:creationId xmlns:a16="http://schemas.microsoft.com/office/drawing/2014/main" id="{AC526E07-9B19-068D-B7C4-3FDE54AB1F38}"/>
                </a:ext>
              </a:extLst>
            </p:cNvPr>
            <p:cNvSpPr txBox="1"/>
            <p:nvPr/>
          </p:nvSpPr>
          <p:spPr>
            <a:xfrm>
              <a:off x="8585896" y="1238532"/>
              <a:ext cx="2762980"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2400" dirty="0"/>
                <a:t>Parámetros de Vuelo</a:t>
              </a:r>
            </a:p>
          </p:txBody>
        </p:sp>
        <p:cxnSp>
          <p:nvCxnSpPr>
            <p:cNvPr id="142" name="Conector recto de flecha 141">
              <a:extLst>
                <a:ext uri="{FF2B5EF4-FFF2-40B4-BE49-F238E27FC236}">
                  <a16:creationId xmlns:a16="http://schemas.microsoft.com/office/drawing/2014/main" id="{94A94F47-6B3F-3A26-8E92-A5415CF1BD08}"/>
                </a:ext>
              </a:extLst>
            </p:cNvPr>
            <p:cNvCxnSpPr>
              <a:cxnSpLocks/>
              <a:stCxn id="140" idx="2"/>
              <a:endCxn id="136" idx="0"/>
            </p:cNvCxnSpPr>
            <p:nvPr/>
          </p:nvCxnSpPr>
          <p:spPr>
            <a:xfrm>
              <a:off x="1800355" y="1700197"/>
              <a:ext cx="322182" cy="906524"/>
            </a:xfrm>
            <a:prstGeom prst="straightConnector1">
              <a:avLst/>
            </a:prstGeom>
            <a:ln w="38100">
              <a:tailEnd type="triangle" w="lg" len="lg"/>
            </a:ln>
          </p:spPr>
          <p:style>
            <a:lnRef idx="1">
              <a:schemeClr val="dk1"/>
            </a:lnRef>
            <a:fillRef idx="0">
              <a:schemeClr val="dk1"/>
            </a:fillRef>
            <a:effectRef idx="0">
              <a:schemeClr val="dk1"/>
            </a:effectRef>
            <a:fontRef idx="minor">
              <a:schemeClr val="tx1"/>
            </a:fontRef>
          </p:style>
        </p:cxnSp>
        <p:cxnSp>
          <p:nvCxnSpPr>
            <p:cNvPr id="143" name="Conector recto de flecha 142">
              <a:extLst>
                <a:ext uri="{FF2B5EF4-FFF2-40B4-BE49-F238E27FC236}">
                  <a16:creationId xmlns:a16="http://schemas.microsoft.com/office/drawing/2014/main" id="{0E71E09E-1C1E-86B3-7EAB-09814A03F55C}"/>
                </a:ext>
              </a:extLst>
            </p:cNvPr>
            <p:cNvCxnSpPr>
              <a:cxnSpLocks/>
              <a:stCxn id="141" idx="2"/>
              <a:endCxn id="138" idx="0"/>
            </p:cNvCxnSpPr>
            <p:nvPr/>
          </p:nvCxnSpPr>
          <p:spPr>
            <a:xfrm flipH="1">
              <a:off x="9438484" y="1700197"/>
              <a:ext cx="528902" cy="920172"/>
            </a:xfrm>
            <a:prstGeom prst="straightConnector1">
              <a:avLst/>
            </a:prstGeom>
            <a:ln w="38100">
              <a:tailEnd type="triangle" w="lg" len="lg"/>
            </a:ln>
          </p:spPr>
          <p:style>
            <a:lnRef idx="1">
              <a:schemeClr val="dk1"/>
            </a:lnRef>
            <a:fillRef idx="0">
              <a:schemeClr val="dk1"/>
            </a:fillRef>
            <a:effectRef idx="0">
              <a:schemeClr val="dk1"/>
            </a:effectRef>
            <a:fontRef idx="minor">
              <a:schemeClr val="tx1"/>
            </a:fontRef>
          </p:style>
        </p:cxnSp>
        <p:sp>
          <p:nvSpPr>
            <p:cNvPr id="144" name="Arco 143">
              <a:extLst>
                <a:ext uri="{FF2B5EF4-FFF2-40B4-BE49-F238E27FC236}">
                  <a16:creationId xmlns:a16="http://schemas.microsoft.com/office/drawing/2014/main" id="{AB6EF7C9-A158-53E4-1B13-DB4E608A8ABC}"/>
                </a:ext>
              </a:extLst>
            </p:cNvPr>
            <p:cNvSpPr/>
            <p:nvPr/>
          </p:nvSpPr>
          <p:spPr>
            <a:xfrm>
              <a:off x="3910671" y="2324924"/>
              <a:ext cx="3678848" cy="824113"/>
            </a:xfrm>
            <a:prstGeom prst="arc">
              <a:avLst>
                <a:gd name="adj1" fmla="val 10986789"/>
                <a:gd name="adj2" fmla="val 0"/>
              </a:avLst>
            </a:prstGeom>
            <a:ln w="38100">
              <a:headEnd type="none" w="med" len="med"/>
              <a:tailEnd type="triangle" w="lg" len="lg"/>
            </a:ln>
          </p:spPr>
          <p:style>
            <a:lnRef idx="1">
              <a:schemeClr val="dk1"/>
            </a:lnRef>
            <a:fillRef idx="0">
              <a:schemeClr val="dk1"/>
            </a:fillRef>
            <a:effectRef idx="0">
              <a:schemeClr val="dk1"/>
            </a:effectRef>
            <a:fontRef idx="minor">
              <a:schemeClr val="tx1"/>
            </a:fontRef>
          </p:style>
          <p:txBody>
            <a:bodyPr rtlCol="0" anchor="ctr"/>
            <a:lstStyle/>
            <a:p>
              <a:pPr algn="ctr"/>
              <a:endParaRPr lang="es-MX"/>
            </a:p>
          </p:txBody>
        </p:sp>
        <p:sp>
          <p:nvSpPr>
            <p:cNvPr id="145" name="Arco 144">
              <a:extLst>
                <a:ext uri="{FF2B5EF4-FFF2-40B4-BE49-F238E27FC236}">
                  <a16:creationId xmlns:a16="http://schemas.microsoft.com/office/drawing/2014/main" id="{487C61DA-58AE-42E8-6A85-729E2BE91749}"/>
                </a:ext>
              </a:extLst>
            </p:cNvPr>
            <p:cNvSpPr/>
            <p:nvPr/>
          </p:nvSpPr>
          <p:spPr>
            <a:xfrm rot="10800000">
              <a:off x="3934220" y="2866509"/>
              <a:ext cx="3655299" cy="824113"/>
            </a:xfrm>
            <a:prstGeom prst="arc">
              <a:avLst>
                <a:gd name="adj1" fmla="val 10986789"/>
                <a:gd name="adj2" fmla="val 0"/>
              </a:avLst>
            </a:prstGeom>
            <a:ln w="38100">
              <a:headEnd type="none" w="med" len="med"/>
              <a:tailEnd type="triangle" w="lg" len="lg"/>
            </a:ln>
          </p:spPr>
          <p:style>
            <a:lnRef idx="1">
              <a:schemeClr val="dk1"/>
            </a:lnRef>
            <a:fillRef idx="0">
              <a:schemeClr val="dk1"/>
            </a:fillRef>
            <a:effectRef idx="0">
              <a:schemeClr val="dk1"/>
            </a:effectRef>
            <a:fontRef idx="minor">
              <a:schemeClr val="tx1"/>
            </a:fontRef>
          </p:style>
          <p:txBody>
            <a:bodyPr rtlCol="0" anchor="ctr"/>
            <a:lstStyle/>
            <a:p>
              <a:pPr algn="ctr"/>
              <a:endParaRPr lang="es-MX"/>
            </a:p>
          </p:txBody>
        </p:sp>
        <p:sp>
          <p:nvSpPr>
            <p:cNvPr id="146" name="CuadroTexto 145">
              <a:extLst>
                <a:ext uri="{FF2B5EF4-FFF2-40B4-BE49-F238E27FC236}">
                  <a16:creationId xmlns:a16="http://schemas.microsoft.com/office/drawing/2014/main" id="{59FDA6C7-D783-6858-8C02-736516821FCA}"/>
                </a:ext>
              </a:extLst>
            </p:cNvPr>
            <p:cNvSpPr txBox="1"/>
            <p:nvPr/>
          </p:nvSpPr>
          <p:spPr>
            <a:xfrm>
              <a:off x="4520120" y="1082684"/>
              <a:ext cx="2588517" cy="120032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2400" dirty="0"/>
                <a:t>Información de UAVs conectados a la red.</a:t>
              </a:r>
            </a:p>
          </p:txBody>
        </p:sp>
        <p:sp>
          <p:nvSpPr>
            <p:cNvPr id="147" name="CuadroTexto 146">
              <a:extLst>
                <a:ext uri="{FF2B5EF4-FFF2-40B4-BE49-F238E27FC236}">
                  <a16:creationId xmlns:a16="http://schemas.microsoft.com/office/drawing/2014/main" id="{AD62789E-BEDC-837B-E84F-96DAC1422935}"/>
                </a:ext>
              </a:extLst>
            </p:cNvPr>
            <p:cNvSpPr txBox="1"/>
            <p:nvPr/>
          </p:nvSpPr>
          <p:spPr>
            <a:xfrm>
              <a:off x="4417195" y="3766823"/>
              <a:ext cx="2794365" cy="120032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2400" dirty="0"/>
                <a:t>Posiciones actualizadas de UAVs.</a:t>
              </a:r>
            </a:p>
          </p:txBody>
        </p:sp>
      </p:grpSp>
      <p:sp>
        <p:nvSpPr>
          <p:cNvPr id="148" name="CuadroTexto 147">
            <a:extLst>
              <a:ext uri="{FF2B5EF4-FFF2-40B4-BE49-F238E27FC236}">
                <a16:creationId xmlns:a16="http://schemas.microsoft.com/office/drawing/2014/main" id="{BBFE5932-4A35-1698-9AC8-79B6CB658D19}"/>
              </a:ext>
            </a:extLst>
          </p:cNvPr>
          <p:cNvSpPr txBox="1"/>
          <p:nvPr/>
        </p:nvSpPr>
        <p:spPr>
          <a:xfrm>
            <a:off x="17271940" y="14183584"/>
            <a:ext cx="13258800" cy="769441"/>
          </a:xfrm>
          <a:prstGeom prst="rect">
            <a:avLst/>
          </a:prstGeom>
          <a:noFill/>
        </p:spPr>
        <p:txBody>
          <a:bodyPr wrap="square" rtlCol="0">
            <a:spAutoFit/>
          </a:bodyPr>
          <a:lstStyle/>
          <a:p>
            <a:pPr marL="571500" indent="-571500">
              <a:buFont typeface="Arial" panose="020B0604020202020204" pitchFamily="34" charset="0"/>
              <a:buChar char="•"/>
            </a:pPr>
            <a:r>
              <a:rPr lang="es-MX" sz="4400" dirty="0"/>
              <a:t>Nivelación de montaje con la fórmula de </a:t>
            </a:r>
            <a:r>
              <a:rPr lang="es-MX" sz="4400" dirty="0" err="1"/>
              <a:t>Rodrigues</a:t>
            </a:r>
            <a:r>
              <a:rPr lang="es-MX" sz="4400" dirty="0"/>
              <a:t> </a:t>
            </a:r>
          </a:p>
        </p:txBody>
      </p:sp>
      <p:pic>
        <p:nvPicPr>
          <p:cNvPr id="33" name="Imagen 32">
            <a:extLst>
              <a:ext uri="{FF2B5EF4-FFF2-40B4-BE49-F238E27FC236}">
                <a16:creationId xmlns:a16="http://schemas.microsoft.com/office/drawing/2014/main" id="{63931F15-10B2-EE71-C312-939047635FCE}"/>
              </a:ext>
            </a:extLst>
          </p:cNvPr>
          <p:cNvPicPr>
            <a:picLocks noChangeAspect="1"/>
          </p:cNvPicPr>
          <p:nvPr/>
        </p:nvPicPr>
        <p:blipFill>
          <a:blip r:embed="rId7"/>
          <a:stretch>
            <a:fillRect/>
          </a:stretch>
        </p:blipFill>
        <p:spPr>
          <a:xfrm>
            <a:off x="18461423" y="22648096"/>
            <a:ext cx="5400000" cy="4891479"/>
          </a:xfrm>
          <a:prstGeom prst="rect">
            <a:avLst/>
          </a:prstGeom>
          <a:effectLst>
            <a:softEdge rad="63500"/>
          </a:effectLst>
        </p:spPr>
      </p:pic>
      <p:pic>
        <p:nvPicPr>
          <p:cNvPr id="35" name="Imagen 34">
            <a:extLst>
              <a:ext uri="{FF2B5EF4-FFF2-40B4-BE49-F238E27FC236}">
                <a16:creationId xmlns:a16="http://schemas.microsoft.com/office/drawing/2014/main" id="{58C00B5C-4521-0A47-6BF3-B46801607BD5}"/>
              </a:ext>
            </a:extLst>
          </p:cNvPr>
          <p:cNvPicPr>
            <a:picLocks noChangeAspect="1"/>
          </p:cNvPicPr>
          <p:nvPr/>
        </p:nvPicPr>
        <p:blipFill>
          <a:blip r:embed="rId8"/>
          <a:stretch>
            <a:fillRect/>
          </a:stretch>
        </p:blipFill>
        <p:spPr>
          <a:xfrm>
            <a:off x="24423820" y="22648096"/>
            <a:ext cx="5400000" cy="4891479"/>
          </a:xfrm>
          <a:prstGeom prst="rect">
            <a:avLst/>
          </a:prstGeom>
          <a:effectLst>
            <a:softEdge rad="63500"/>
          </a:effectLst>
        </p:spPr>
      </p:pic>
      <p:sp>
        <p:nvSpPr>
          <p:cNvPr id="36" name="CuadroTexto 35">
            <a:extLst>
              <a:ext uri="{FF2B5EF4-FFF2-40B4-BE49-F238E27FC236}">
                <a16:creationId xmlns:a16="http://schemas.microsoft.com/office/drawing/2014/main" id="{BD7A5963-BAE4-12B4-1229-76FD8975E608}"/>
              </a:ext>
            </a:extLst>
          </p:cNvPr>
          <p:cNvSpPr txBox="1"/>
          <p:nvPr/>
        </p:nvSpPr>
        <p:spPr>
          <a:xfrm>
            <a:off x="17207686" y="28093501"/>
            <a:ext cx="10748367" cy="1815882"/>
          </a:xfrm>
          <a:prstGeom prst="rect">
            <a:avLst/>
          </a:prstGeom>
          <a:noFill/>
        </p:spPr>
        <p:txBody>
          <a:bodyPr wrap="square" rtlCol="0">
            <a:spAutoFit/>
          </a:bodyPr>
          <a:lstStyle/>
          <a:p>
            <a:pPr algn="just"/>
            <a:r>
              <a:rPr lang="es-MX" sz="2800" dirty="0"/>
              <a:t>Seguimiento de una trayectoria de referencia en formación Delta con 10 robots. La trayectoria es conocida por el robot líder y la información de su posición se disemina entre los 9 robots seguidores que calculan su movimiento para mantener la formación durante el recorrido.</a:t>
            </a:r>
          </a:p>
        </p:txBody>
      </p:sp>
      <p:pic>
        <p:nvPicPr>
          <p:cNvPr id="29" name="Imagen 28">
            <a:extLst>
              <a:ext uri="{FF2B5EF4-FFF2-40B4-BE49-F238E27FC236}">
                <a16:creationId xmlns:a16="http://schemas.microsoft.com/office/drawing/2014/main" id="{4E8A8F18-3113-9D62-78DB-D1B2583AFE6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737616" y="28008570"/>
            <a:ext cx="2160000" cy="2160000"/>
          </a:xfrm>
          <a:prstGeom prst="rect">
            <a:avLst/>
          </a:prstGeom>
        </p:spPr>
      </p:pic>
      <p:pic>
        <p:nvPicPr>
          <p:cNvPr id="12" name="Imagen 11">
            <a:extLst>
              <a:ext uri="{FF2B5EF4-FFF2-40B4-BE49-F238E27FC236}">
                <a16:creationId xmlns:a16="http://schemas.microsoft.com/office/drawing/2014/main" id="{B7D70F22-B820-2BE9-1014-41354DB83AF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148211" y="2156651"/>
            <a:ext cx="6867316" cy="829800"/>
          </a:xfrm>
          <a:prstGeom prst="rect">
            <a:avLst/>
          </a:prstGeom>
        </p:spPr>
      </p:pic>
      <p:pic>
        <p:nvPicPr>
          <p:cNvPr id="19" name="Imagen 18">
            <a:extLst>
              <a:ext uri="{FF2B5EF4-FFF2-40B4-BE49-F238E27FC236}">
                <a16:creationId xmlns:a16="http://schemas.microsoft.com/office/drawing/2014/main" id="{7E15C983-52EA-482F-29D9-0E7164CA140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560896" y="1278724"/>
            <a:ext cx="2013546" cy="2013546"/>
          </a:xfrm>
          <a:prstGeom prst="rect">
            <a:avLst/>
          </a:prstGeom>
        </p:spPr>
      </p:pic>
      <p:pic>
        <p:nvPicPr>
          <p:cNvPr id="26" name="Imagen 25">
            <a:extLst>
              <a:ext uri="{FF2B5EF4-FFF2-40B4-BE49-F238E27FC236}">
                <a16:creationId xmlns:a16="http://schemas.microsoft.com/office/drawing/2014/main" id="{97A0481E-4A49-177F-D960-FF1C96235EF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93041" y="1950027"/>
            <a:ext cx="5816195" cy="1091749"/>
          </a:xfrm>
          <a:prstGeom prst="rect">
            <a:avLst/>
          </a:prstGeom>
        </p:spPr>
      </p:pic>
      <p:pic>
        <p:nvPicPr>
          <p:cNvPr id="27" name="Image 0">
            <a:extLst>
              <a:ext uri="{FF2B5EF4-FFF2-40B4-BE49-F238E27FC236}">
                <a16:creationId xmlns:a16="http://schemas.microsoft.com/office/drawing/2014/main" id="{CB8C020B-FA7A-1418-A786-ABFD7DED4EF2}"/>
              </a:ext>
            </a:extLst>
          </p:cNvPr>
          <p:cNvPicPr>
            <a:picLocks noChangeAspect="1"/>
          </p:cNvPicPr>
          <p:nvPr/>
        </p:nvPicPr>
        <p:blipFill>
          <a:blip r:embed="rId13"/>
          <a:stretch>
            <a:fillRect/>
          </a:stretch>
        </p:blipFill>
        <p:spPr>
          <a:xfrm>
            <a:off x="7754960" y="33209683"/>
            <a:ext cx="7470931" cy="1115931"/>
          </a:xfrm>
          <a:prstGeom prst="rect">
            <a:avLst/>
          </a:prstGeom>
        </p:spPr>
      </p:pic>
      <p:pic>
        <p:nvPicPr>
          <p:cNvPr id="28" name="Image 1">
            <a:extLst>
              <a:ext uri="{FF2B5EF4-FFF2-40B4-BE49-F238E27FC236}">
                <a16:creationId xmlns:a16="http://schemas.microsoft.com/office/drawing/2014/main" id="{81AD2CE6-BEC2-206E-4B66-318AD19BF8A5}"/>
              </a:ext>
            </a:extLst>
          </p:cNvPr>
          <p:cNvPicPr>
            <a:picLocks noChangeAspect="1"/>
          </p:cNvPicPr>
          <p:nvPr/>
        </p:nvPicPr>
        <p:blipFill>
          <a:blip r:embed="rId14"/>
          <a:stretch>
            <a:fillRect/>
          </a:stretch>
        </p:blipFill>
        <p:spPr>
          <a:xfrm>
            <a:off x="1982715" y="37885613"/>
            <a:ext cx="13232041" cy="2834923"/>
          </a:xfrm>
          <a:prstGeom prst="rect">
            <a:avLst/>
          </a:prstGeom>
        </p:spPr>
      </p:pic>
      <p:sp>
        <p:nvSpPr>
          <p:cNvPr id="30" name="Text 114">
            <a:extLst>
              <a:ext uri="{FF2B5EF4-FFF2-40B4-BE49-F238E27FC236}">
                <a16:creationId xmlns:a16="http://schemas.microsoft.com/office/drawing/2014/main" id="{FEBA7584-7DB4-DD35-31E9-324338284E2A}"/>
              </a:ext>
            </a:extLst>
          </p:cNvPr>
          <p:cNvSpPr/>
          <p:nvPr/>
        </p:nvSpPr>
        <p:spPr>
          <a:xfrm>
            <a:off x="1672625" y="23068177"/>
            <a:ext cx="1051560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600" i="1" dirty="0">
                <a:solidFill>
                  <a:schemeClr val="tx1">
                    <a:lumMod val="95000"/>
                    <a:lumOff val="5000"/>
                  </a:schemeClr>
                </a:solidFill>
                <a:latin typeface="+mj-lt"/>
                <a:ea typeface="Cambria" pitchFamily="34" charset="-122"/>
                <a:cs typeface="Cambria" pitchFamily="34" charset="-120"/>
              </a:rPr>
              <a:t>SensorTag CC2650 · MPU-9250</a:t>
            </a:r>
            <a:endParaRPr lang="en-US" sz="2600" dirty="0">
              <a:solidFill>
                <a:schemeClr val="tx1">
                  <a:lumMod val="95000"/>
                  <a:lumOff val="5000"/>
                </a:schemeClr>
              </a:solidFill>
              <a:latin typeface="+mj-lt"/>
            </a:endParaRPr>
          </a:p>
        </p:txBody>
      </p:sp>
      <p:pic>
        <p:nvPicPr>
          <p:cNvPr id="34" name="Imagen 33">
            <a:extLst>
              <a:ext uri="{FF2B5EF4-FFF2-40B4-BE49-F238E27FC236}">
                <a16:creationId xmlns:a16="http://schemas.microsoft.com/office/drawing/2014/main" id="{85F53E5E-092E-C3BB-96EF-32D7884B426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666895" y="701668"/>
            <a:ext cx="3870703" cy="3096562"/>
          </a:xfrm>
          <a:prstGeom prst="rect">
            <a:avLst/>
          </a:prstGeom>
        </p:spPr>
      </p:pic>
      <p:pic>
        <p:nvPicPr>
          <p:cNvPr id="39" name="Imagen 38">
            <a:extLst>
              <a:ext uri="{FF2B5EF4-FFF2-40B4-BE49-F238E27FC236}">
                <a16:creationId xmlns:a16="http://schemas.microsoft.com/office/drawing/2014/main" id="{9256DA7D-EAC0-A1D0-B622-45C895DDB83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6726413" y="1178202"/>
            <a:ext cx="3216957" cy="2573565"/>
          </a:xfrm>
          <a:prstGeom prst="rect">
            <a:avLst/>
          </a:prstGeom>
        </p:spPr>
      </p:pic>
      <p:pic>
        <p:nvPicPr>
          <p:cNvPr id="42" name="Imagen 41">
            <a:extLst>
              <a:ext uri="{FF2B5EF4-FFF2-40B4-BE49-F238E27FC236}">
                <a16:creationId xmlns:a16="http://schemas.microsoft.com/office/drawing/2014/main" id="{1CE42DE6-4AED-7DDD-6927-63B7F667EF59}"/>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5805291" y="1166029"/>
            <a:ext cx="2733854" cy="2187083"/>
          </a:xfrm>
          <a:prstGeom prst="rect">
            <a:avLst/>
          </a:prstGeom>
        </p:spPr>
      </p:pic>
      <p:sp>
        <p:nvSpPr>
          <p:cNvPr id="44" name="Text 116">
            <a:extLst>
              <a:ext uri="{FF2B5EF4-FFF2-40B4-BE49-F238E27FC236}">
                <a16:creationId xmlns:a16="http://schemas.microsoft.com/office/drawing/2014/main" id="{4105CCE7-0BA9-A516-2F24-EF0DB7526589}"/>
              </a:ext>
            </a:extLst>
          </p:cNvPr>
          <p:cNvSpPr/>
          <p:nvPr/>
        </p:nvSpPr>
        <p:spPr>
          <a:xfrm>
            <a:off x="9435286" y="33263105"/>
            <a:ext cx="77724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2400" dirty="0">
              <a:solidFill>
                <a:schemeClr val="tx1">
                  <a:lumMod val="95000"/>
                  <a:lumOff val="5000"/>
                </a:schemeClr>
              </a:solidFill>
            </a:endParaRPr>
          </a:p>
        </p:txBody>
      </p:sp>
      <p:pic>
        <p:nvPicPr>
          <p:cNvPr id="46" name="Image 3">
            <a:extLst>
              <a:ext uri="{FF2B5EF4-FFF2-40B4-BE49-F238E27FC236}">
                <a16:creationId xmlns:a16="http://schemas.microsoft.com/office/drawing/2014/main" id="{D684B3AB-E5B5-D282-83C3-A38545884179}"/>
              </a:ext>
            </a:extLst>
          </p:cNvPr>
          <p:cNvPicPr>
            <a:picLocks noChangeAspect="1"/>
          </p:cNvPicPr>
          <p:nvPr/>
        </p:nvPicPr>
        <p:blipFill>
          <a:blip r:embed="rId18"/>
          <a:stretch>
            <a:fillRect/>
          </a:stretch>
        </p:blipFill>
        <p:spPr>
          <a:xfrm>
            <a:off x="8101174" y="23796735"/>
            <a:ext cx="6646312" cy="5988261"/>
          </a:xfrm>
          <a:prstGeom prst="rect">
            <a:avLst/>
          </a:prstGeom>
        </p:spPr>
      </p:pic>
      <p:sp>
        <p:nvSpPr>
          <p:cNvPr id="48" name="CuadroTexto 47">
            <a:extLst>
              <a:ext uri="{FF2B5EF4-FFF2-40B4-BE49-F238E27FC236}">
                <a16:creationId xmlns:a16="http://schemas.microsoft.com/office/drawing/2014/main" id="{9011E42C-089C-482A-702E-FF95B8055E7D}"/>
              </a:ext>
            </a:extLst>
          </p:cNvPr>
          <p:cNvSpPr txBox="1"/>
          <p:nvPr/>
        </p:nvSpPr>
        <p:spPr>
          <a:xfrm>
            <a:off x="1528037" y="24133223"/>
            <a:ext cx="13258800" cy="769441"/>
          </a:xfrm>
          <a:prstGeom prst="rect">
            <a:avLst/>
          </a:prstGeom>
          <a:noFill/>
        </p:spPr>
        <p:txBody>
          <a:bodyPr wrap="square" rtlCol="0">
            <a:spAutoFit/>
          </a:bodyPr>
          <a:lstStyle/>
          <a:p>
            <a:pPr marL="571500" indent="-571500">
              <a:buFont typeface="Arial" panose="020B0604020202020204" pitchFamily="34" charset="0"/>
              <a:buChar char="•"/>
            </a:pPr>
            <a:r>
              <a:rPr lang="es-MX" sz="4400" dirty="0"/>
              <a:t>Razón de Calibración</a:t>
            </a:r>
          </a:p>
        </p:txBody>
      </p:sp>
      <p:sp>
        <p:nvSpPr>
          <p:cNvPr id="51" name="Text 2">
            <a:extLst>
              <a:ext uri="{FF2B5EF4-FFF2-40B4-BE49-F238E27FC236}">
                <a16:creationId xmlns:a16="http://schemas.microsoft.com/office/drawing/2014/main" id="{6994F27F-5899-DAF9-3591-FF1B0A46107E}"/>
              </a:ext>
            </a:extLst>
          </p:cNvPr>
          <p:cNvSpPr/>
          <p:nvPr/>
        </p:nvSpPr>
        <p:spPr>
          <a:xfrm>
            <a:off x="1698180" y="25296093"/>
            <a:ext cx="5386761" cy="9144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buNone/>
            </a:pPr>
            <a:r>
              <a:rPr lang="en-US" sz="3200" dirty="0">
                <a:solidFill>
                  <a:schemeClr val="tx1">
                    <a:lumMod val="95000"/>
                    <a:lumOff val="5000"/>
                  </a:schemeClr>
                </a:solidFill>
                <a:latin typeface="Calibri" pitchFamily="34" charset="0"/>
                <a:ea typeface="Calibri" pitchFamily="34" charset="-122"/>
                <a:cs typeface="Calibri" pitchFamily="34" charset="-120"/>
              </a:rPr>
              <a:t>Un </a:t>
            </a:r>
            <a:r>
              <a:rPr lang="en-US" sz="3200" dirty="0" err="1">
                <a:solidFill>
                  <a:schemeClr val="tx1">
                    <a:lumMod val="95000"/>
                    <a:lumOff val="5000"/>
                  </a:schemeClr>
                </a:solidFill>
                <a:latin typeface="Calibri" pitchFamily="34" charset="0"/>
                <a:ea typeface="Calibri" pitchFamily="34" charset="-122"/>
                <a:cs typeface="Calibri" pitchFamily="34" charset="-120"/>
              </a:rPr>
              <a:t>acelerómetro</a:t>
            </a:r>
            <a:r>
              <a:rPr lang="en-US" sz="3200" dirty="0">
                <a:solidFill>
                  <a:schemeClr val="tx1">
                    <a:lumMod val="95000"/>
                    <a:lumOff val="5000"/>
                  </a:schemeClr>
                </a:solidFill>
                <a:latin typeface="Calibri" pitchFamily="34" charset="0"/>
                <a:ea typeface="Calibri" pitchFamily="34" charset="-122"/>
                <a:cs typeface="Calibri" pitchFamily="34" charset="-120"/>
              </a:rPr>
              <a:t> no entrega la aceleración real: </a:t>
            </a:r>
            <a:r>
              <a:rPr lang="en-US" sz="3200" dirty="0" err="1">
                <a:solidFill>
                  <a:schemeClr val="tx1">
                    <a:lumMod val="95000"/>
                    <a:lumOff val="5000"/>
                  </a:schemeClr>
                </a:solidFill>
                <a:latin typeface="Calibri" pitchFamily="34" charset="0"/>
                <a:ea typeface="Calibri" pitchFamily="34" charset="-122"/>
                <a:cs typeface="Calibri" pitchFamily="34" charset="-120"/>
              </a:rPr>
              <a:t>entrega</a:t>
            </a:r>
            <a:r>
              <a:rPr lang="en-US" sz="3200" dirty="0">
                <a:solidFill>
                  <a:schemeClr val="tx1">
                    <a:lumMod val="95000"/>
                    <a:lumOff val="5000"/>
                  </a:schemeClr>
                </a:solidFill>
                <a:latin typeface="Calibri" pitchFamily="34" charset="0"/>
                <a:ea typeface="Calibri" pitchFamily="34" charset="-122"/>
                <a:cs typeface="Calibri" pitchFamily="34" charset="-120"/>
              </a:rPr>
              <a:t> una versión </a:t>
            </a:r>
            <a:r>
              <a:rPr lang="en-US" sz="3200" b="1" dirty="0">
                <a:solidFill>
                  <a:schemeClr val="tx1">
                    <a:lumMod val="95000"/>
                    <a:lumOff val="5000"/>
                  </a:schemeClr>
                </a:solidFill>
                <a:latin typeface="Calibri" pitchFamily="34" charset="0"/>
                <a:ea typeface="Calibri" pitchFamily="34" charset="-122"/>
                <a:cs typeface="Calibri" pitchFamily="34" charset="-120"/>
              </a:rPr>
              <a:t>deformada</a:t>
            </a:r>
            <a:r>
              <a:rPr lang="en-US" sz="3200" dirty="0">
                <a:solidFill>
                  <a:schemeClr val="tx1">
                    <a:lumMod val="95000"/>
                    <a:lumOff val="5000"/>
                  </a:schemeClr>
                </a:solidFill>
                <a:latin typeface="Calibri" pitchFamily="34" charset="0"/>
                <a:ea typeface="Calibri" pitchFamily="34" charset="-122"/>
                <a:cs typeface="Calibri" pitchFamily="34" charset="-120"/>
              </a:rPr>
              <a:t> de ella. Tres defectos sistemáticos dominan la </a:t>
            </a:r>
            <a:r>
              <a:rPr lang="en-US" sz="3200" dirty="0" err="1">
                <a:solidFill>
                  <a:schemeClr val="tx1">
                    <a:lumMod val="95000"/>
                    <a:lumOff val="5000"/>
                  </a:schemeClr>
                </a:solidFill>
                <a:latin typeface="Calibri" pitchFamily="34" charset="0"/>
                <a:ea typeface="Calibri" pitchFamily="34" charset="-122"/>
                <a:cs typeface="Calibri" pitchFamily="34" charset="-120"/>
              </a:rPr>
              <a:t>distorsión</a:t>
            </a:r>
            <a:r>
              <a:rPr lang="en-US" sz="3200" dirty="0">
                <a:solidFill>
                  <a:schemeClr val="tx1">
                    <a:lumMod val="95000"/>
                    <a:lumOff val="5000"/>
                  </a:schemeClr>
                </a:solidFill>
                <a:latin typeface="Calibri" pitchFamily="34" charset="0"/>
                <a:ea typeface="Calibri" pitchFamily="34" charset="-122"/>
                <a:cs typeface="Calibri" pitchFamily="34" charset="-120"/>
              </a:rPr>
              <a:t>.</a:t>
            </a:r>
            <a:endParaRPr lang="en-US" sz="3200" dirty="0">
              <a:solidFill>
                <a:schemeClr val="tx1">
                  <a:lumMod val="95000"/>
                  <a:lumOff val="5000"/>
                </a:schemeClr>
              </a:solidFill>
            </a:endParaRPr>
          </a:p>
        </p:txBody>
      </p:sp>
      <p:sp>
        <p:nvSpPr>
          <p:cNvPr id="53" name="Text 2">
            <a:extLst>
              <a:ext uri="{FF2B5EF4-FFF2-40B4-BE49-F238E27FC236}">
                <a16:creationId xmlns:a16="http://schemas.microsoft.com/office/drawing/2014/main" id="{466D278A-E3F3-A06D-767C-C11ACD49A440}"/>
              </a:ext>
            </a:extLst>
          </p:cNvPr>
          <p:cNvSpPr/>
          <p:nvPr/>
        </p:nvSpPr>
        <p:spPr>
          <a:xfrm>
            <a:off x="1672625" y="28086694"/>
            <a:ext cx="5386761" cy="9144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buFontTx/>
              <a:buChar char="-"/>
            </a:pPr>
            <a:r>
              <a:rPr lang="en-US" sz="3200" b="1" dirty="0">
                <a:solidFill>
                  <a:schemeClr val="tx1">
                    <a:lumMod val="95000"/>
                    <a:lumOff val="5000"/>
                  </a:schemeClr>
                </a:solidFill>
                <a:latin typeface="Calibri" pitchFamily="34" charset="0"/>
                <a:ea typeface="Calibri" pitchFamily="34" charset="-122"/>
                <a:cs typeface="Calibri" pitchFamily="34" charset="-120"/>
              </a:rPr>
              <a:t>Factor de </a:t>
            </a:r>
            <a:r>
              <a:rPr lang="en-US" sz="3200" b="1" dirty="0" err="1">
                <a:solidFill>
                  <a:schemeClr val="tx1">
                    <a:lumMod val="95000"/>
                    <a:lumOff val="5000"/>
                  </a:schemeClr>
                </a:solidFill>
                <a:latin typeface="Calibri" pitchFamily="34" charset="0"/>
                <a:ea typeface="Calibri" pitchFamily="34" charset="-122"/>
                <a:cs typeface="Calibri" pitchFamily="34" charset="-120"/>
              </a:rPr>
              <a:t>escala</a:t>
            </a:r>
            <a:endParaRPr lang="en-US" sz="3200" b="1" dirty="0">
              <a:solidFill>
                <a:schemeClr val="tx1">
                  <a:lumMod val="95000"/>
                  <a:lumOff val="5000"/>
                </a:schemeClr>
              </a:solidFill>
              <a:latin typeface="Calibri" pitchFamily="34" charset="0"/>
              <a:ea typeface="Calibri" pitchFamily="34" charset="-122"/>
              <a:cs typeface="Calibri" pitchFamily="34" charset="-120"/>
            </a:endParaRPr>
          </a:p>
          <a:p>
            <a:pPr marL="457200" indent="-457200">
              <a:buFontTx/>
              <a:buChar char="-"/>
            </a:pPr>
            <a:r>
              <a:rPr lang="en-US" sz="3200" b="1" dirty="0" err="1">
                <a:solidFill>
                  <a:schemeClr val="tx1">
                    <a:lumMod val="95000"/>
                    <a:lumOff val="5000"/>
                  </a:schemeClr>
                </a:solidFill>
              </a:rPr>
              <a:t>Acoplamiento</a:t>
            </a:r>
            <a:r>
              <a:rPr lang="en-US" sz="3200" b="1" dirty="0">
                <a:solidFill>
                  <a:schemeClr val="tx1">
                    <a:lumMod val="95000"/>
                    <a:lumOff val="5000"/>
                  </a:schemeClr>
                </a:solidFill>
              </a:rPr>
              <a:t> cruzado</a:t>
            </a:r>
          </a:p>
          <a:p>
            <a:pPr marL="457200" indent="-457200">
              <a:buFontTx/>
              <a:buChar char="-"/>
            </a:pPr>
            <a:r>
              <a:rPr lang="en-US" sz="3200" b="1" dirty="0">
                <a:solidFill>
                  <a:schemeClr val="tx1">
                    <a:lumMod val="95000"/>
                    <a:lumOff val="5000"/>
                  </a:schemeClr>
                </a:solidFill>
              </a:rPr>
              <a:t>Bias</a:t>
            </a:r>
          </a:p>
        </p:txBody>
      </p:sp>
      <p:sp>
        <p:nvSpPr>
          <p:cNvPr id="55" name="CuadroTexto 54">
            <a:extLst>
              <a:ext uri="{FF2B5EF4-FFF2-40B4-BE49-F238E27FC236}">
                <a16:creationId xmlns:a16="http://schemas.microsoft.com/office/drawing/2014/main" id="{EBE53EFE-7ABA-3949-E24A-4F20DB6B31C8}"/>
              </a:ext>
            </a:extLst>
          </p:cNvPr>
          <p:cNvSpPr txBox="1"/>
          <p:nvPr/>
        </p:nvSpPr>
        <p:spPr>
          <a:xfrm>
            <a:off x="5708264" y="30019351"/>
            <a:ext cx="9506492" cy="1446550"/>
          </a:xfrm>
          <a:prstGeom prst="rect">
            <a:avLst/>
          </a:prstGeom>
          <a:noFill/>
        </p:spPr>
        <p:txBody>
          <a:bodyPr wrap="square" rtlCol="0">
            <a:spAutoFit/>
          </a:bodyPr>
          <a:lstStyle/>
          <a:p>
            <a:pPr marL="571500" indent="-571500">
              <a:buFont typeface="Arial" panose="020B0604020202020204" pitchFamily="34" charset="0"/>
              <a:buChar char="•"/>
            </a:pPr>
            <a:r>
              <a:rPr lang="es-MX" sz="4400" dirty="0"/>
              <a:t>Razón de El modelo de corrección afín</a:t>
            </a:r>
          </a:p>
          <a:p>
            <a:pPr marL="571500" indent="-571500">
              <a:buFont typeface="Arial" panose="020B0604020202020204" pitchFamily="34" charset="0"/>
              <a:buChar char="•"/>
            </a:pPr>
            <a:endParaRPr lang="es-MX" sz="4400" dirty="0"/>
          </a:p>
        </p:txBody>
      </p:sp>
      <p:sp>
        <p:nvSpPr>
          <p:cNvPr id="57" name="Text 116">
            <a:extLst>
              <a:ext uri="{FF2B5EF4-FFF2-40B4-BE49-F238E27FC236}">
                <a16:creationId xmlns:a16="http://schemas.microsoft.com/office/drawing/2014/main" id="{42530355-2B02-9B09-4877-AA781AA498B8}"/>
              </a:ext>
            </a:extLst>
          </p:cNvPr>
          <p:cNvSpPr/>
          <p:nvPr/>
        </p:nvSpPr>
        <p:spPr>
          <a:xfrm>
            <a:off x="1823222" y="31566136"/>
            <a:ext cx="8348044" cy="103961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3200" dirty="0"/>
              <a:t>Para corregir las mediciones se define un modelo de transformación afín expresado como</a:t>
            </a:r>
            <a:endParaRPr lang="en-US" sz="3200" dirty="0">
              <a:solidFill>
                <a:schemeClr val="tx1">
                  <a:lumMod val="95000"/>
                  <a:lumOff val="5000"/>
                </a:schemeClr>
              </a:solidFill>
            </a:endParaRPr>
          </a:p>
        </p:txBody>
      </p:sp>
      <p:sp>
        <p:nvSpPr>
          <p:cNvPr id="59" name="Text 116">
            <a:extLst>
              <a:ext uri="{FF2B5EF4-FFF2-40B4-BE49-F238E27FC236}">
                <a16:creationId xmlns:a16="http://schemas.microsoft.com/office/drawing/2014/main" id="{9778D2D9-F87F-6042-3176-C304C867CCC0}"/>
              </a:ext>
            </a:extLst>
          </p:cNvPr>
          <p:cNvSpPr/>
          <p:nvPr/>
        </p:nvSpPr>
        <p:spPr>
          <a:xfrm>
            <a:off x="1823222" y="36439862"/>
            <a:ext cx="77724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3200" dirty="0"/>
              <a:t>Desglosando la ecuación matricial para las componentes tridimensionales:</a:t>
            </a:r>
            <a:endParaRPr lang="en-US" sz="3200" dirty="0">
              <a:solidFill>
                <a:schemeClr val="tx1">
                  <a:lumMod val="95000"/>
                  <a:lumOff val="5000"/>
                </a:schemeClr>
              </a:solidFill>
            </a:endParaRPr>
          </a:p>
        </p:txBody>
      </p:sp>
      <p:sp>
        <p:nvSpPr>
          <p:cNvPr id="61" name="Text 114">
            <a:extLst>
              <a:ext uri="{FF2B5EF4-FFF2-40B4-BE49-F238E27FC236}">
                <a16:creationId xmlns:a16="http://schemas.microsoft.com/office/drawing/2014/main" id="{E7A816DB-1DD3-B3B2-8A66-51EF4E1B574C}"/>
              </a:ext>
            </a:extLst>
          </p:cNvPr>
          <p:cNvSpPr/>
          <p:nvPr/>
        </p:nvSpPr>
        <p:spPr>
          <a:xfrm>
            <a:off x="9575884" y="34261924"/>
            <a:ext cx="4403176" cy="118938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s-MX" sz="2400" i="1" dirty="0">
                <a:solidFill>
                  <a:schemeClr val="tx1">
                    <a:lumMod val="95000"/>
                    <a:lumOff val="5000"/>
                  </a:schemeClr>
                </a:solidFill>
                <a:latin typeface="+mj-lt"/>
                <a:ea typeface="Cambria" pitchFamily="34" charset="-122"/>
                <a:cs typeface="Cambria" pitchFamily="34" charset="-120"/>
              </a:rPr>
              <a:t>Un modelo afín, seis posiciones y la </a:t>
            </a:r>
            <a:r>
              <a:rPr lang="es-MX" sz="2400" i="1" dirty="0" err="1">
                <a:solidFill>
                  <a:schemeClr val="tx1">
                    <a:lumMod val="95000"/>
                    <a:lumOff val="5000"/>
                  </a:schemeClr>
                </a:solidFill>
                <a:latin typeface="+mj-lt"/>
                <a:ea typeface="Cambria" pitchFamily="34" charset="-122"/>
                <a:cs typeface="Cambria" pitchFamily="34" charset="-120"/>
              </a:rPr>
              <a:t>pseudoinversa</a:t>
            </a:r>
            <a:r>
              <a:rPr lang="es-MX" sz="2400" i="1" dirty="0">
                <a:solidFill>
                  <a:schemeClr val="tx1">
                    <a:lumMod val="95000"/>
                    <a:lumOff val="5000"/>
                  </a:schemeClr>
                </a:solidFill>
                <a:latin typeface="+mj-lt"/>
                <a:ea typeface="Cambria" pitchFamily="34" charset="-122"/>
                <a:cs typeface="Cambria" pitchFamily="34" charset="-120"/>
              </a:rPr>
              <a:t> de Moore–Penrose</a:t>
            </a:r>
          </a:p>
        </p:txBody>
      </p:sp>
    </p:spTree>
    <p:extLst>
      <p:ext uri="{BB962C8B-B14F-4D97-AF65-F5344CB8AC3E}">
        <p14:creationId xmlns:p14="http://schemas.microsoft.com/office/powerpoint/2010/main" val="133639031"/>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2720</TotalTime>
  <Words>722</Words>
  <Application>Microsoft Office PowerPoint</Application>
  <PresentationFormat>Personalizado</PresentationFormat>
  <Paragraphs>51</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Calibri</vt:lpstr>
      <vt:lpstr>Calibri Light</vt:lpstr>
      <vt:lpstr>Cambria Math</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Mario Aguilera</dc:creator>
  <cp:lastModifiedBy>VELAZQUEZ VARGAS CHRISTIANALEXIS</cp:lastModifiedBy>
  <cp:revision>56</cp:revision>
  <dcterms:created xsi:type="dcterms:W3CDTF">2023-09-27T19:08:34Z</dcterms:created>
  <dcterms:modified xsi:type="dcterms:W3CDTF">2026-07-22T21:29:28Z</dcterms:modified>
</cp:coreProperties>
</file>