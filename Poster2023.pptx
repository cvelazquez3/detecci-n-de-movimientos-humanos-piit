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2399288" cy="43200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6" userDrawn="1">
          <p15:clr>
            <a:srgbClr val="A4A3A4"/>
          </p15:clr>
        </p15:guide>
        <p15:guide id="2" pos="102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93" autoAdjust="0"/>
    <p:restoredTop sz="94660"/>
  </p:normalViewPr>
  <p:slideViewPr>
    <p:cSldViewPr snapToGrid="0">
      <p:cViewPr>
        <p:scale>
          <a:sx n="43" d="100"/>
          <a:sy n="43" d="100"/>
        </p:scale>
        <p:origin x="-322" y="-5342"/>
      </p:cViewPr>
      <p:guideLst>
        <p:guide orient="horz" pos="13606"/>
        <p:guide pos="102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45644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0326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51090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87005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8861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74338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25694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4970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3549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9311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5216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A247A4-B290-419D-9DCB-8D23B210FFBF}" type="datetimeFigureOut">
              <a:rPr lang="es-MX" smtClean="0"/>
              <a:t>24/07/2026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F36C1-8E51-4AD7-8D78-B52F5D99E6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018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openxmlformats.org/officeDocument/2006/relationships/hyperlink" Target="mailto:cvelazquez3@ucol.mx" TargetMode="External"/><Relationship Id="rId21" Type="http://schemas.openxmlformats.org/officeDocument/2006/relationships/image" Target="../media/image16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7" Type="http://schemas.openxmlformats.org/officeDocument/2006/relationships/image" Target="../media/image12.png"/><Relationship Id="rId2" Type="http://schemas.openxmlformats.org/officeDocument/2006/relationships/image" Target="../media/image1.png"/><Relationship Id="rId16" Type="http://schemas.openxmlformats.org/officeDocument/2006/relationships/image" Target="../media/image11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agalaviz@cicese.edu.mx" TargetMode="External"/><Relationship Id="rId11" Type="http://schemas.openxmlformats.org/officeDocument/2006/relationships/image" Target="../media/image6.png"/><Relationship Id="rId5" Type="http://schemas.openxmlformats.org/officeDocument/2006/relationships/hyperlink" Target="mailto:cristianaboites0@gmail.com" TargetMode="External"/><Relationship Id="rId15" Type="http://schemas.openxmlformats.org/officeDocument/2006/relationships/image" Target="../media/image10.png"/><Relationship Id="rId10" Type="http://schemas.openxmlformats.org/officeDocument/2006/relationships/image" Target="../media/image5.png"/><Relationship Id="rId19" Type="http://schemas.openxmlformats.org/officeDocument/2006/relationships/image" Target="../media/image14.png"/><Relationship Id="rId4" Type="http://schemas.openxmlformats.org/officeDocument/2006/relationships/hyperlink" Target="mailto:302510822@ute.edu.mx" TargetMode="External"/><Relationship Id="rId9" Type="http://schemas.openxmlformats.org/officeDocument/2006/relationships/image" Target="../media/image4.pn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1C2F0C4E-2BE0-B5A0-78B8-4453F21EF590}"/>
              </a:ext>
            </a:extLst>
          </p:cNvPr>
          <p:cNvSpPr/>
          <p:nvPr/>
        </p:nvSpPr>
        <p:spPr>
          <a:xfrm>
            <a:off x="16457144" y="31391565"/>
            <a:ext cx="15249378" cy="11048803"/>
          </a:xfrm>
          <a:prstGeom prst="roundRect">
            <a:avLst>
              <a:gd name="adj" fmla="val 4269"/>
            </a:avLst>
          </a:prstGeom>
          <a:solidFill>
            <a:srgbClr val="DEEBF7">
              <a:alpha val="40000"/>
            </a:srgb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MX" dirty="0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CC3723D5-E611-2AB8-F152-5676946D8017}"/>
              </a:ext>
            </a:extLst>
          </p:cNvPr>
          <p:cNvSpPr/>
          <p:nvPr/>
        </p:nvSpPr>
        <p:spPr>
          <a:xfrm>
            <a:off x="853069" y="21636302"/>
            <a:ext cx="15249378" cy="20862668"/>
          </a:xfrm>
          <a:prstGeom prst="roundRect">
            <a:avLst>
              <a:gd name="adj" fmla="val 3469"/>
            </a:avLst>
          </a:prstGeom>
          <a:solidFill>
            <a:srgbClr val="DEEBF7">
              <a:alpha val="40000"/>
            </a:srgb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6570ACF-C798-4D5D-910E-DB8B50233C22}"/>
              </a:ext>
            </a:extLst>
          </p:cNvPr>
          <p:cNvSpPr/>
          <p:nvPr/>
        </p:nvSpPr>
        <p:spPr>
          <a:xfrm>
            <a:off x="670560" y="13853160"/>
            <a:ext cx="15249378" cy="7072609"/>
          </a:xfrm>
          <a:prstGeom prst="roundRect">
            <a:avLst>
              <a:gd name="adj" fmla="val 7779"/>
            </a:avLst>
          </a:prstGeom>
          <a:solidFill>
            <a:srgbClr val="DEEBF7">
              <a:alpha val="40000"/>
            </a:srgb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ángulo: esquinas redondeadas 4">
                <a:extLst>
                  <a:ext uri="{FF2B5EF4-FFF2-40B4-BE49-F238E27FC236}">
                    <a16:creationId xmlns:a16="http://schemas.microsoft.com/office/drawing/2014/main" id="{F0C989E4-A07C-A61D-D74F-668A5769A6D8}"/>
                  </a:ext>
                </a:extLst>
              </p:cNvPr>
              <p:cNvSpPr/>
              <p:nvPr/>
            </p:nvSpPr>
            <p:spPr>
              <a:xfrm>
                <a:off x="16395088" y="13937383"/>
                <a:ext cx="15249378" cy="16783494"/>
              </a:xfrm>
              <a:prstGeom prst="roundRect">
                <a:avLst>
                  <a:gd name="adj" fmla="val 4269"/>
                </a:avLst>
              </a:prstGeom>
              <a:solidFill>
                <a:srgbClr val="DEEBF7">
                  <a:alpha val="40000"/>
                </a:srgbClr>
              </a:solidFill>
              <a:ln w="762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sub>
                          </m:sSub>
                          <m:r>
                            <a:rPr lang="es-MX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s-MX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𝑑𝑥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s-MX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sub>
                          </m:s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s-MX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𝑑𝑦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s-MX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MX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s-MX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s-MX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𝑑𝑧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s-MX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lang="es-MX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𝑧𝑧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lang="es-MX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s-MX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𝑧𝑧</m:t>
                              </m:r>
                            </m:sub>
                          </m:s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lang="es-MX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s-MX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𝑧𝑧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𝜓</m:t>
                          </m:r>
                        </m:sub>
                      </m:sSub>
                      <m:r>
                        <a:rPr lang="es-MX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𝑧𝑧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es-MX"/>
              </a:p>
            </p:txBody>
          </p:sp>
        </mc:Choice>
        <mc:Fallback>
          <p:sp>
            <p:nvSpPr>
              <p:cNvPr id="5" name="Rectángulo: esquinas redondeadas 4">
                <a:extLst>
                  <a:ext uri="{FF2B5EF4-FFF2-40B4-BE49-F238E27FC236}">
                    <a16:creationId xmlns:a16="http://schemas.microsoft.com/office/drawing/2014/main" id="{F0C989E4-A07C-A61D-D74F-668A5769A6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5088" y="13937383"/>
                <a:ext cx="15249378" cy="16783494"/>
              </a:xfrm>
              <a:prstGeom prst="roundRect">
                <a:avLst>
                  <a:gd name="adj" fmla="val 4269"/>
                </a:avLst>
              </a:prstGeom>
              <a:blipFill>
                <a:blip r:embed="rId2"/>
                <a:stretch>
                  <a:fillRect/>
                </a:stretch>
              </a:blipFill>
              <a:ln w="76200"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60AC830-9057-ABAC-76A4-1800761BB60C}"/>
              </a:ext>
            </a:extLst>
          </p:cNvPr>
          <p:cNvSpPr/>
          <p:nvPr/>
        </p:nvSpPr>
        <p:spPr>
          <a:xfrm>
            <a:off x="670560" y="9002256"/>
            <a:ext cx="31058168" cy="3941414"/>
          </a:xfrm>
          <a:prstGeom prst="roundRect">
            <a:avLst>
              <a:gd name="adj" fmla="val 7667"/>
            </a:avLst>
          </a:prstGeom>
          <a:solidFill>
            <a:srgbClr val="DEEBF7">
              <a:alpha val="40000"/>
            </a:srgb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0FE9D1-9584-6FC2-4DFF-89A06778D20B}"/>
              </a:ext>
            </a:extLst>
          </p:cNvPr>
          <p:cNvSpPr txBox="1"/>
          <p:nvPr/>
        </p:nvSpPr>
        <p:spPr>
          <a:xfrm>
            <a:off x="1402080" y="8747760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Resumen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B56BF31-6CF5-7C72-AC46-65456CA1C6EC}"/>
              </a:ext>
            </a:extLst>
          </p:cNvPr>
          <p:cNvSpPr txBox="1"/>
          <p:nvPr/>
        </p:nvSpPr>
        <p:spPr>
          <a:xfrm>
            <a:off x="1402080" y="13412192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Objetivos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095D55E-1C70-29B7-4687-6EA53DB48DF6}"/>
              </a:ext>
            </a:extLst>
          </p:cNvPr>
          <p:cNvSpPr txBox="1"/>
          <p:nvPr/>
        </p:nvSpPr>
        <p:spPr>
          <a:xfrm>
            <a:off x="1402080" y="21143481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Desarrollo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7CD4FB8-18BC-2D3D-BB51-1BB62BF4CDC1}"/>
              </a:ext>
            </a:extLst>
          </p:cNvPr>
          <p:cNvSpPr txBox="1"/>
          <p:nvPr/>
        </p:nvSpPr>
        <p:spPr>
          <a:xfrm>
            <a:off x="17068800" y="31160796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Conclusiones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85D9ED9-B078-4BCF-0100-0868180BD37A}"/>
              </a:ext>
            </a:extLst>
          </p:cNvPr>
          <p:cNvSpPr txBox="1"/>
          <p:nvPr/>
        </p:nvSpPr>
        <p:spPr>
          <a:xfrm>
            <a:off x="17068800" y="37697152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Referencias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469DE0C-6EB5-F9AC-4B94-690615022225}"/>
              </a:ext>
            </a:extLst>
          </p:cNvPr>
          <p:cNvSpPr txBox="1"/>
          <p:nvPr/>
        </p:nvSpPr>
        <p:spPr>
          <a:xfrm>
            <a:off x="17172218" y="13363486"/>
            <a:ext cx="5120640" cy="851297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bg1"/>
                </a:solidFill>
              </a:rPr>
              <a:t>Resultados</a:t>
            </a:r>
            <a:endParaRPr lang="es-MX" sz="5000" dirty="0">
              <a:solidFill>
                <a:schemeClr val="bg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326C99D-7B22-1D5E-159E-C9C6370D1A17}"/>
              </a:ext>
            </a:extLst>
          </p:cNvPr>
          <p:cNvSpPr txBox="1"/>
          <p:nvPr/>
        </p:nvSpPr>
        <p:spPr>
          <a:xfrm>
            <a:off x="883920" y="4266752"/>
            <a:ext cx="298427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6600" b="1" dirty="0"/>
              <a:t>Caracterización de ruido en reconstrucción de trayectoria basada en </a:t>
            </a:r>
            <a:r>
              <a:rPr lang="es-MX" sz="6600" b="1" dirty="0" err="1"/>
              <a:t>IMU´s</a:t>
            </a:r>
            <a:endParaRPr lang="es-MX" sz="6600" b="1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7D7059-9872-0060-A8F2-1ED67CDC81D0}"/>
              </a:ext>
            </a:extLst>
          </p:cNvPr>
          <p:cNvSpPr txBox="1"/>
          <p:nvPr/>
        </p:nvSpPr>
        <p:spPr>
          <a:xfrm>
            <a:off x="991405" y="9542689"/>
            <a:ext cx="3048000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 uso de Unidades de Medición Inercial (IMUs) como el TI </a:t>
            </a:r>
            <a:r>
              <a:rPr lang="es-MX" sz="40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SensorTag</a:t>
            </a:r>
            <a:r>
              <a:rPr lang="es-MX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CC2560 en la estimación de trayectoria presenta un reto significativo debido a la acumulación de error por diferentes tipos de ruido. Este trabajo aborda la caracterización del ruido y el modelado de errores en acelerómetros y giroscopios para mitigar la deriva (</a:t>
            </a:r>
            <a:r>
              <a:rPr lang="es-MX" sz="40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drift</a:t>
            </a:r>
            <a:r>
              <a:rPr lang="es-MX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en la detección de movimiento. Mediante un modelo matricial de calibración, la transformación de </a:t>
            </a:r>
            <a:r>
              <a:rPr lang="es-MX" sz="40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Rodrigues</a:t>
            </a:r>
            <a:r>
              <a:rPr lang="es-MX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se corrigen los componentes deterministas (sesgo, escala y desalineamiento), sentando las bases para una reconstrucción precisa. </a:t>
            </a:r>
          </a:p>
          <a:p>
            <a:endParaRPr lang="es-MX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90C33E-106A-3EBE-43E6-E39655B4E006}"/>
              </a:ext>
            </a:extLst>
          </p:cNvPr>
          <p:cNvSpPr txBox="1"/>
          <p:nvPr/>
        </p:nvSpPr>
        <p:spPr>
          <a:xfrm>
            <a:off x="1331347" y="14516847"/>
            <a:ext cx="13624560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Caracterizar los tipos de ruido en sensores inerciales e implementar un protocolo de calibración para mejorar precisión en la detección de movimiento.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000" b="1" dirty="0"/>
              <a:t>Modelar la matriz de error determinista del acelerómetro</a:t>
            </a:r>
            <a:r>
              <a:rPr lang="es-MX" sz="40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MX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000" b="1" dirty="0"/>
              <a:t>Implementar la transformación de </a:t>
            </a:r>
            <a:r>
              <a:rPr lang="es-MX" sz="4000" b="1" dirty="0" err="1"/>
              <a:t>Rodrigues</a:t>
            </a:r>
            <a:r>
              <a:rPr lang="es-MX" sz="4000" b="1" dirty="0"/>
              <a:t> </a:t>
            </a:r>
            <a:r>
              <a:rPr lang="es-MX" sz="4000" dirty="0"/>
              <a:t>y el método de </a:t>
            </a:r>
            <a:r>
              <a:rPr lang="es-MX" sz="4000" b="1" dirty="0"/>
              <a:t>Pseudoinversa </a:t>
            </a:r>
            <a:r>
              <a:rPr lang="es-MX" sz="4000" dirty="0"/>
              <a:t>para estimar los parámetros de calibración.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MX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000" dirty="0"/>
              <a:t>Evaluar la detección de movimiento comparando la respuesta del sistema </a:t>
            </a:r>
            <a:r>
              <a:rPr lang="es-MX" sz="4000" b="1" dirty="0"/>
              <a:t>antes y después del proceso de calibración</a:t>
            </a:r>
            <a:r>
              <a:rPr lang="es-MX" sz="4000" dirty="0"/>
              <a:t>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D453642-642E-5B59-B5F6-98DE6BEE8E0F}"/>
              </a:ext>
            </a:extLst>
          </p:cNvPr>
          <p:cNvSpPr txBox="1"/>
          <p:nvPr/>
        </p:nvSpPr>
        <p:spPr>
          <a:xfrm>
            <a:off x="1672625" y="6013129"/>
            <a:ext cx="2908169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000" b="1" dirty="0"/>
              <a:t>Christian Alexis Velazquez-Vargas, Iván Zahid Martínez-Cortez, Christian Abel Verastegui-</a:t>
            </a:r>
            <a:r>
              <a:rPr lang="es-MX" sz="4000" b="1" dirty="0" err="1"/>
              <a:t>Aboites</a:t>
            </a:r>
            <a:r>
              <a:rPr lang="es-MX" sz="4000" b="1" dirty="0"/>
              <a:t>, Gabriel Alejandro Galaviz-Mosqueda</a:t>
            </a:r>
          </a:p>
          <a:p>
            <a:pPr algn="ctr"/>
            <a:r>
              <a:rPr lang="es-MX" sz="4000" b="1" dirty="0"/>
              <a:t>Unidad Monterrey del Centro de Investigación Científica y Educación Superior de Ensenada.</a:t>
            </a:r>
          </a:p>
          <a:p>
            <a:pPr algn="ctr"/>
            <a:r>
              <a:rPr lang="es-MX" sz="4000" b="1" dirty="0">
                <a:hlinkClick r:id="rId3"/>
              </a:rPr>
              <a:t>cvelazquez3@ucol.mx</a:t>
            </a:r>
            <a:r>
              <a:rPr lang="es-MX" sz="4000" b="1" dirty="0"/>
              <a:t>, </a:t>
            </a:r>
            <a:r>
              <a:rPr lang="es-MX" sz="4000" b="1" dirty="0">
                <a:hlinkClick r:id="rId4"/>
              </a:rPr>
              <a:t>302510822@ute.edu.mx</a:t>
            </a:r>
            <a:r>
              <a:rPr lang="es-MX" sz="4000" b="1" dirty="0"/>
              <a:t>, </a:t>
            </a:r>
            <a:r>
              <a:rPr lang="es-MX" sz="4000" b="1" dirty="0">
                <a:hlinkClick r:id="rId5"/>
              </a:rPr>
              <a:t>cristianaboites0@gmail.com</a:t>
            </a:r>
            <a:r>
              <a:rPr lang="es-MX" sz="4000" b="1" dirty="0"/>
              <a:t>,  </a:t>
            </a:r>
            <a:r>
              <a:rPr lang="es-MX" sz="4000" b="1" dirty="0">
                <a:hlinkClick r:id="rId6"/>
              </a:rPr>
              <a:t>agalaviz@cicese.edu.mx</a:t>
            </a:r>
            <a:r>
              <a:rPr lang="es-MX" sz="4000" b="1" dirty="0"/>
              <a:t> </a:t>
            </a:r>
          </a:p>
          <a:p>
            <a:endParaRPr lang="es-MX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5928CF8-856C-8533-15A4-5D933A912DD5}"/>
              </a:ext>
            </a:extLst>
          </p:cNvPr>
          <p:cNvSpPr txBox="1"/>
          <p:nvPr/>
        </p:nvSpPr>
        <p:spPr>
          <a:xfrm>
            <a:off x="991405" y="22459994"/>
            <a:ext cx="13258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400" dirty="0"/>
              <a:t>	Calibración del acelerómetro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AB72982-7C54-DE86-F98F-001CB48F4706}"/>
              </a:ext>
            </a:extLst>
          </p:cNvPr>
          <p:cNvSpPr txBox="1"/>
          <p:nvPr/>
        </p:nvSpPr>
        <p:spPr>
          <a:xfrm>
            <a:off x="17010136" y="32452012"/>
            <a:ext cx="14295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Integración de Calibración y Alineación La caracterización mediante el modelo afín cuantifica los tres defectos deterministas del acelerómetro (sesgo, factores de escala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s_x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s_y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s_z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 acoplamientos cruzados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m_ij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siendo una condición indispensable para prevenir que la deriva cuadrática degrade la estimación de posición. Sobre estas mediciones corregidas, la fórmula de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Rodrigues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ofrece una solución analítica directa en tiempo real basada únicamente en el eje k y ángulo theta, transformando los datos del marco del dispositivo (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body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al inercial (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world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para eliminar por completo los errores de inclinación física de montaje (tilt </a:t>
            </a:r>
            <a:r>
              <a:rPr lang="es-MX" sz="3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offsets</a:t>
            </a:r>
            <a:r>
              <a:rPr lang="es-MX" sz="3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lang="es-MX" dirty="0"/>
          </a:p>
        </p:txBody>
      </p:sp>
      <p:sp>
        <p:nvSpPr>
          <p:cNvPr id="132" name="CuadroTexto 131">
            <a:extLst>
              <a:ext uri="{FF2B5EF4-FFF2-40B4-BE49-F238E27FC236}">
                <a16:creationId xmlns:a16="http://schemas.microsoft.com/office/drawing/2014/main" id="{9AE98A1D-E69D-8B40-2C87-7A87774DE5C7}"/>
              </a:ext>
            </a:extLst>
          </p:cNvPr>
          <p:cNvSpPr txBox="1"/>
          <p:nvPr/>
        </p:nvSpPr>
        <p:spPr>
          <a:xfrm>
            <a:off x="17271940" y="38842446"/>
            <a:ext cx="1409198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[1] Tedaldi, David, Alberto Pretto, y Emanuele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Menegatti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 "A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Robust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and Easy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to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Implement Method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for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IMU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Calibration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without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External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Equipments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." En 2014 IEEE International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Conference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on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Robotics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and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Automation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(ICRA), 3042–3049. Hong Kong, China: IEEE, 2014.</a:t>
            </a:r>
          </a:p>
          <a:p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[2</a:t>
            </a:r>
            <a:r>
              <a:rPr lang="es-MX" sz="2400" dirty="0">
                <a:solidFill>
                  <a:srgbClr val="000000"/>
                </a:solidFill>
                <a:latin typeface="Calibri" panose="020F0502020204030204" pitchFamily="34" charset="0"/>
              </a:rPr>
              <a:t>] 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Skog, Isaac, y Peter Händel. "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Calibration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of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a MEMS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Inertial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Unit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." En XVII IMEKO World Congress: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Metrology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for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a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Sustainable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s-MX" sz="2400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Development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1–6. Río de Janeiro, Brasil, 2006..</a:t>
            </a:r>
          </a:p>
          <a:p>
            <a:endParaRPr lang="es-MX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s-MX" sz="2400" dirty="0">
              <a:effectLst/>
            </a:endParaRPr>
          </a:p>
          <a:p>
            <a:endParaRPr lang="es-MX" dirty="0"/>
          </a:p>
        </p:txBody>
      </p: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BBFE5932-4A35-1698-9AC8-79B6CB658D19}"/>
              </a:ext>
            </a:extLst>
          </p:cNvPr>
          <p:cNvSpPr txBox="1"/>
          <p:nvPr/>
        </p:nvSpPr>
        <p:spPr>
          <a:xfrm>
            <a:off x="16763234" y="22961333"/>
            <a:ext cx="13258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400" dirty="0"/>
              <a:t>Nivelación de montaje con la fórmula de </a:t>
            </a:r>
            <a:r>
              <a:rPr lang="es-MX" sz="4400" dirty="0" err="1"/>
              <a:t>Rodrigues</a:t>
            </a:r>
            <a:r>
              <a:rPr lang="es-MX" sz="4400" dirty="0"/>
              <a:t> </a:t>
            </a: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4E8A8F18-3113-9D62-78DB-D1B2583AFE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7616" y="28008570"/>
            <a:ext cx="2160000" cy="21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7D70F22-B820-2BE9-1014-41354DB83A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8211" y="2156651"/>
            <a:ext cx="6867316" cy="82980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7E15C983-52EA-482F-29D9-0E7164CA14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0896" y="1278724"/>
            <a:ext cx="2013546" cy="201354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97A0481E-4A49-177F-D960-FF1C96235E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3041" y="1950027"/>
            <a:ext cx="5816195" cy="1091749"/>
          </a:xfrm>
          <a:prstGeom prst="rect">
            <a:avLst/>
          </a:prstGeom>
        </p:spPr>
      </p:pic>
      <p:pic>
        <p:nvPicPr>
          <p:cNvPr id="27" name="Image 0">
            <a:extLst>
              <a:ext uri="{FF2B5EF4-FFF2-40B4-BE49-F238E27FC236}">
                <a16:creationId xmlns:a16="http://schemas.microsoft.com/office/drawing/2014/main" id="{CB8C020B-FA7A-1418-A786-ABFD7DED4EF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3661" y="30944996"/>
            <a:ext cx="6001095" cy="896382"/>
          </a:xfrm>
          <a:prstGeom prst="rect">
            <a:avLst/>
          </a:prstGeom>
        </p:spPr>
      </p:pic>
      <p:pic>
        <p:nvPicPr>
          <p:cNvPr id="28" name="Image 1">
            <a:extLst>
              <a:ext uri="{FF2B5EF4-FFF2-40B4-BE49-F238E27FC236}">
                <a16:creationId xmlns:a16="http://schemas.microsoft.com/office/drawing/2014/main" id="{81AD2CE6-BEC2-206E-4B66-318AD19BF8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91337" y="33615894"/>
            <a:ext cx="10320027" cy="2211033"/>
          </a:xfrm>
          <a:prstGeom prst="rect">
            <a:avLst/>
          </a:prstGeom>
        </p:spPr>
      </p:pic>
      <p:sp>
        <p:nvSpPr>
          <p:cNvPr id="30" name="Text 114">
            <a:extLst>
              <a:ext uri="{FF2B5EF4-FFF2-40B4-BE49-F238E27FC236}">
                <a16:creationId xmlns:a16="http://schemas.microsoft.com/office/drawing/2014/main" id="{FEBA7584-7DB4-DD35-31E9-324338284E2A}"/>
              </a:ext>
            </a:extLst>
          </p:cNvPr>
          <p:cNvSpPr/>
          <p:nvPr/>
        </p:nvSpPr>
        <p:spPr>
          <a:xfrm>
            <a:off x="1672625" y="23068177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i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mbria" pitchFamily="34" charset="-122"/>
                <a:cs typeface="Cambria" pitchFamily="34" charset="-120"/>
              </a:rPr>
              <a:t>SensorTag CC2650 · MPU-9250</a:t>
            </a:r>
            <a:endParaRPr lang="en-US" sz="2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85F53E5E-092E-C3BB-96EF-32D7884B426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6895" y="701668"/>
            <a:ext cx="3870703" cy="3096562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9256DA7D-EAC0-A1D0-B622-45C895DDB83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6413" y="1178202"/>
            <a:ext cx="3216957" cy="2573565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1CE42DE6-4AED-7DDD-6927-63B7F667EF5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5291" y="1166029"/>
            <a:ext cx="2733854" cy="2187083"/>
          </a:xfrm>
          <a:prstGeom prst="rect">
            <a:avLst/>
          </a:prstGeom>
        </p:spPr>
      </p:pic>
      <p:sp>
        <p:nvSpPr>
          <p:cNvPr id="44" name="Text 116">
            <a:extLst>
              <a:ext uri="{FF2B5EF4-FFF2-40B4-BE49-F238E27FC236}">
                <a16:creationId xmlns:a16="http://schemas.microsoft.com/office/drawing/2014/main" id="{4105CCE7-0BA9-A516-2F24-EF0DB7526589}"/>
              </a:ext>
            </a:extLst>
          </p:cNvPr>
          <p:cNvSpPr/>
          <p:nvPr/>
        </p:nvSpPr>
        <p:spPr>
          <a:xfrm>
            <a:off x="9435286" y="3326310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Image 3">
            <a:extLst>
              <a:ext uri="{FF2B5EF4-FFF2-40B4-BE49-F238E27FC236}">
                <a16:creationId xmlns:a16="http://schemas.microsoft.com/office/drawing/2014/main" id="{D684B3AB-E5B5-D282-83C3-A3854588417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39718" y="22973400"/>
            <a:ext cx="6646312" cy="5988261"/>
          </a:xfrm>
          <a:prstGeom prst="rect">
            <a:avLst/>
          </a:prstGeom>
        </p:spPr>
      </p:pic>
      <p:sp>
        <p:nvSpPr>
          <p:cNvPr id="48" name="CuadroTexto 47">
            <a:extLst>
              <a:ext uri="{FF2B5EF4-FFF2-40B4-BE49-F238E27FC236}">
                <a16:creationId xmlns:a16="http://schemas.microsoft.com/office/drawing/2014/main" id="{9011E42C-089C-482A-702E-FF95B8055E7D}"/>
              </a:ext>
            </a:extLst>
          </p:cNvPr>
          <p:cNvSpPr txBox="1"/>
          <p:nvPr/>
        </p:nvSpPr>
        <p:spPr>
          <a:xfrm>
            <a:off x="1528037" y="23984271"/>
            <a:ext cx="13258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400" dirty="0"/>
              <a:t>Razón de Calibración</a:t>
            </a:r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6994F27F-5899-DAF9-3591-FF1B0A46107E}"/>
              </a:ext>
            </a:extLst>
          </p:cNvPr>
          <p:cNvSpPr/>
          <p:nvPr/>
        </p:nvSpPr>
        <p:spPr>
          <a:xfrm>
            <a:off x="1698180" y="24885097"/>
            <a:ext cx="53867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32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acelerómetro</a:t>
            </a: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entrega la aceleración real: </a:t>
            </a:r>
            <a:r>
              <a:rPr lang="en-US" sz="32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 versión </a:t>
            </a: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deformada</a:t>
            </a: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ella. Tres defectos sistemáticos dominan la </a:t>
            </a:r>
            <a:r>
              <a:rPr lang="en-US" sz="32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distorsión</a:t>
            </a: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3" name="Text 2">
            <a:extLst>
              <a:ext uri="{FF2B5EF4-FFF2-40B4-BE49-F238E27FC236}">
                <a16:creationId xmlns:a16="http://schemas.microsoft.com/office/drawing/2014/main" id="{466D278A-E3F3-A06D-767C-C11ACD49A440}"/>
              </a:ext>
            </a:extLst>
          </p:cNvPr>
          <p:cNvSpPr/>
          <p:nvPr/>
        </p:nvSpPr>
        <p:spPr>
          <a:xfrm>
            <a:off x="1672625" y="27625355"/>
            <a:ext cx="53867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Tx/>
              <a:buChar char="-"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de </a:t>
            </a:r>
            <a:r>
              <a:rPr lang="en-US" sz="32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457200" indent="-457200">
              <a:buFontTx/>
              <a:buChar char="-"/>
            </a:pPr>
            <a:r>
              <a:rPr lang="en-US" sz="32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Acoplamiento</a:t>
            </a: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cruzado</a:t>
            </a:r>
          </a:p>
          <a:p>
            <a:pPr marL="457200" indent="-457200">
              <a:buFontTx/>
              <a:buChar char="-"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Bias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EBE53EFE-7ABA-3949-E24A-4F20DB6B31C8}"/>
              </a:ext>
            </a:extLst>
          </p:cNvPr>
          <p:cNvSpPr txBox="1"/>
          <p:nvPr/>
        </p:nvSpPr>
        <p:spPr>
          <a:xfrm>
            <a:off x="5708264" y="29023479"/>
            <a:ext cx="95064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400" dirty="0"/>
              <a:t>Razón de El modelo de corrección afín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MX" sz="4400" dirty="0"/>
          </a:p>
        </p:txBody>
      </p:sp>
      <p:sp>
        <p:nvSpPr>
          <p:cNvPr id="57" name="Text 116">
            <a:extLst>
              <a:ext uri="{FF2B5EF4-FFF2-40B4-BE49-F238E27FC236}">
                <a16:creationId xmlns:a16="http://schemas.microsoft.com/office/drawing/2014/main" id="{42530355-2B02-9B09-4877-AA781AA498B8}"/>
              </a:ext>
            </a:extLst>
          </p:cNvPr>
          <p:cNvSpPr/>
          <p:nvPr/>
        </p:nvSpPr>
        <p:spPr>
          <a:xfrm>
            <a:off x="1772338" y="30098114"/>
            <a:ext cx="8348044" cy="10396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3200" dirty="0"/>
              <a:t>Para corregir las mediciones se define un modelo de transformación afín expresado como</a:t>
            </a:r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9" name="Text 116">
            <a:extLst>
              <a:ext uri="{FF2B5EF4-FFF2-40B4-BE49-F238E27FC236}">
                <a16:creationId xmlns:a16="http://schemas.microsoft.com/office/drawing/2014/main" id="{9778D2D9-F87F-6042-3176-C304C867CCC0}"/>
              </a:ext>
            </a:extLst>
          </p:cNvPr>
          <p:cNvSpPr/>
          <p:nvPr/>
        </p:nvSpPr>
        <p:spPr>
          <a:xfrm>
            <a:off x="1822064" y="3235528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3200" dirty="0"/>
              <a:t>Desglosando la ecuación matricial para las componentes tridimensionales:</a:t>
            </a:r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1" name="Text 114">
            <a:extLst>
              <a:ext uri="{FF2B5EF4-FFF2-40B4-BE49-F238E27FC236}">
                <a16:creationId xmlns:a16="http://schemas.microsoft.com/office/drawing/2014/main" id="{E7A816DB-1DD3-B3B2-8A66-51EF4E1B574C}"/>
              </a:ext>
            </a:extLst>
          </p:cNvPr>
          <p:cNvSpPr/>
          <p:nvPr/>
        </p:nvSpPr>
        <p:spPr>
          <a:xfrm>
            <a:off x="10359308" y="31859539"/>
            <a:ext cx="4403176" cy="1189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400" i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mbria" pitchFamily="34" charset="-122"/>
                <a:cs typeface="Cambria" pitchFamily="34" charset="-120"/>
              </a:rPr>
              <a:t>Un modelo afín, seis posiciones y la </a:t>
            </a:r>
            <a:r>
              <a:rPr lang="es-MX" sz="2400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mbria" pitchFamily="34" charset="-122"/>
                <a:cs typeface="Cambria" pitchFamily="34" charset="-120"/>
              </a:rPr>
              <a:t>pseudoinversa</a:t>
            </a:r>
            <a:r>
              <a:rPr lang="es-MX" sz="2400" i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mbria" pitchFamily="34" charset="-122"/>
                <a:cs typeface="Cambria" pitchFamily="34" charset="-120"/>
              </a:rPr>
              <a:t> de Moore–Penrose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A93ABF1-D19F-FF6F-80AA-653567BEB1A3}"/>
              </a:ext>
            </a:extLst>
          </p:cNvPr>
          <p:cNvSpPr txBox="1"/>
          <p:nvPr/>
        </p:nvSpPr>
        <p:spPr>
          <a:xfrm>
            <a:off x="1769474" y="36689937"/>
            <a:ext cx="95064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400" dirty="0"/>
              <a:t>Método de </a:t>
            </a:r>
            <a:r>
              <a:rPr lang="es-MX" sz="4400" dirty="0" err="1"/>
              <a:t>Rodrigues</a:t>
            </a:r>
            <a:endParaRPr lang="es-MX" sz="44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MX" sz="4400" dirty="0"/>
          </a:p>
        </p:txBody>
      </p:sp>
      <p:sp>
        <p:nvSpPr>
          <p:cNvPr id="16" name="Text 116">
            <a:extLst>
              <a:ext uri="{FF2B5EF4-FFF2-40B4-BE49-F238E27FC236}">
                <a16:creationId xmlns:a16="http://schemas.microsoft.com/office/drawing/2014/main" id="{44FB4C62-FC88-774E-BC28-9E1D6E565884}"/>
              </a:ext>
            </a:extLst>
          </p:cNvPr>
          <p:cNvSpPr/>
          <p:nvPr/>
        </p:nvSpPr>
        <p:spPr>
          <a:xfrm>
            <a:off x="1891151" y="38292199"/>
            <a:ext cx="14028787" cy="10396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MX" sz="3200" dirty="0"/>
              <a:t>La nivelación con </a:t>
            </a:r>
            <a:r>
              <a:rPr lang="es-MX" sz="3200" dirty="0" err="1"/>
              <a:t>Rodrigues</a:t>
            </a:r>
            <a:r>
              <a:rPr lang="es-MX" sz="3200" dirty="0"/>
              <a:t> corrige la inclinación física con la que el sensor está montado respecto al mundo. Su objetivo es rotar las mediciones para que la gravedad apunte exactamente hacia el eje </a:t>
            </a:r>
            <a:r>
              <a:rPr lang="es-MX" sz="3200" b="1" dirty="0"/>
              <a:t>Z </a:t>
            </a:r>
            <a:r>
              <a:rPr lang="es-MX" sz="3200" dirty="0"/>
              <a:t>en reposo.</a:t>
            </a:r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81806CD-9859-AAD0-2FDB-015FC418A0BB}"/>
                  </a:ext>
                </a:extLst>
              </p:cNvPr>
              <p:cNvSpPr txBox="1"/>
              <p:nvPr/>
            </p:nvSpPr>
            <p:spPr>
              <a:xfrm>
                <a:off x="1147689" y="39715063"/>
                <a:ext cx="1429511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endParaRPr lang="es-ES" sz="3600" dirty="0">
                  <a:solidFill>
                    <a:schemeClr val="accent1">
                      <a:lumMod val="50000"/>
                    </a:schemeClr>
                  </a:solidFill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𝑅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𝐼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+ 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𝑠𝑖𝑛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 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𝐾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+ (1 − 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𝑐𝑜𝑠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  <m:r>
                        <a:rPr lang="es-MX" sz="3600" i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)) </m:t>
                      </m:r>
                      <m:sSup>
                        <m:sSupPr>
                          <m:ctrlPr>
                            <a:rPr lang="es-MX" sz="3600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3600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𝐾</m:t>
                          </m:r>
                        </m:e>
                        <m:sup>
                          <m:r>
                            <a:rPr lang="es-MX" sz="3600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s-MX" sz="36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81806CD-9859-AAD0-2FDB-015FC418A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689" y="39715063"/>
                <a:ext cx="14295119" cy="120032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CuadroTexto 39">
            <a:extLst>
              <a:ext uri="{FF2B5EF4-FFF2-40B4-BE49-F238E27FC236}">
                <a16:creationId xmlns:a16="http://schemas.microsoft.com/office/drawing/2014/main" id="{7870BD3C-59B9-385F-AEA0-B8C3BF78B800}"/>
              </a:ext>
            </a:extLst>
          </p:cNvPr>
          <p:cNvSpPr txBox="1"/>
          <p:nvPr/>
        </p:nvSpPr>
        <p:spPr>
          <a:xfrm>
            <a:off x="16859696" y="14709911"/>
            <a:ext cx="13258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MX" sz="4400" dirty="0"/>
              <a:t>Datos crudos en comparación de calibración aplicada</a:t>
            </a:r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7AF25FFD-0C3F-55E0-AC2C-06728FDE34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068800" y="15856519"/>
            <a:ext cx="13657861" cy="6699267"/>
          </a:xfrm>
          <a:prstGeom prst="rect">
            <a:avLst/>
          </a:prstGeom>
        </p:spPr>
      </p:pic>
      <p:sp>
        <p:nvSpPr>
          <p:cNvPr id="52" name="CuadroTexto 51">
            <a:extLst>
              <a:ext uri="{FF2B5EF4-FFF2-40B4-BE49-F238E27FC236}">
                <a16:creationId xmlns:a16="http://schemas.microsoft.com/office/drawing/2014/main" id="{77E1988D-6195-C40E-A2B1-025995ED2FA4}"/>
              </a:ext>
            </a:extLst>
          </p:cNvPr>
          <p:cNvSpPr txBox="1"/>
          <p:nvPr/>
        </p:nvSpPr>
        <p:spPr>
          <a:xfrm>
            <a:off x="18018450" y="23754326"/>
            <a:ext cx="10748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dirty="0"/>
              <a:t>Comparación 3D: Antes vs. Después de </a:t>
            </a:r>
            <a:r>
              <a:rPr lang="es-MX" sz="2800" dirty="0" err="1"/>
              <a:t>Rodrigues</a:t>
            </a:r>
            <a:endParaRPr lang="es-MX" sz="2800" dirty="0"/>
          </a:p>
        </p:txBody>
      </p:sp>
      <p:pic>
        <p:nvPicPr>
          <p:cNvPr id="56" name="Imagen 55">
            <a:extLst>
              <a:ext uri="{FF2B5EF4-FFF2-40B4-BE49-F238E27FC236}">
                <a16:creationId xmlns:a16="http://schemas.microsoft.com/office/drawing/2014/main" id="{34B60496-A4BE-B88F-6FD8-AC96C3A24BA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185063" y="24422220"/>
            <a:ext cx="4641661" cy="2320830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29ABF981-588D-A06C-20D9-BCA6BAC18CB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172218" y="24401462"/>
            <a:ext cx="4733880" cy="2341588"/>
          </a:xfrm>
          <a:prstGeom prst="rect">
            <a:avLst/>
          </a:prstGeom>
        </p:spPr>
      </p:pic>
      <p:pic>
        <p:nvPicPr>
          <p:cNvPr id="63" name="Imagen 62">
            <a:extLst>
              <a:ext uri="{FF2B5EF4-FFF2-40B4-BE49-F238E27FC236}">
                <a16:creationId xmlns:a16="http://schemas.microsoft.com/office/drawing/2014/main" id="{DCE8314D-707E-540B-8E9D-33F632FE4B2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7064299" y="23891824"/>
            <a:ext cx="3690021" cy="3756176"/>
          </a:xfrm>
          <a:prstGeom prst="rect">
            <a:avLst/>
          </a:prstGeom>
        </p:spPr>
      </p:pic>
      <p:sp>
        <p:nvSpPr>
          <p:cNvPr id="129" name="CuadroTexto 128">
            <a:extLst>
              <a:ext uri="{FF2B5EF4-FFF2-40B4-BE49-F238E27FC236}">
                <a16:creationId xmlns:a16="http://schemas.microsoft.com/office/drawing/2014/main" id="{7B2DEEB4-9015-2A37-0ED5-63CB18B2C422}"/>
              </a:ext>
            </a:extLst>
          </p:cNvPr>
          <p:cNvSpPr txBox="1"/>
          <p:nvPr/>
        </p:nvSpPr>
        <p:spPr>
          <a:xfrm>
            <a:off x="17167191" y="29414448"/>
            <a:ext cx="9897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800" b="1" i="1" dirty="0"/>
              <a:t>Navegación en la interfaz por medio del QR     </a:t>
            </a:r>
            <a:r>
              <a:rPr lang="es-MX" sz="2800" b="1" i="1" dirty="0">
                <a:sym typeface="Wingdings" panose="05000000000000000000" pitchFamily="2" charset="2"/>
              </a:rPr>
              <a:t></a:t>
            </a:r>
            <a:endParaRPr lang="es-MX" sz="2800" b="1" i="1" dirty="0"/>
          </a:p>
        </p:txBody>
      </p:sp>
    </p:spTree>
    <p:extLst>
      <p:ext uri="{BB962C8B-B14F-4D97-AF65-F5344CB8AC3E}">
        <p14:creationId xmlns:p14="http://schemas.microsoft.com/office/powerpoint/2010/main" val="1336390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4260</TotalTime>
  <Words>672</Words>
  <Application>Microsoft Office PowerPoint</Application>
  <PresentationFormat>Personalizado</PresentationFormat>
  <Paragraphs>46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Wingdings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Mario Aguilera</dc:creator>
  <cp:lastModifiedBy>VELAZQUEZ VARGAS CHRISTIANALEXIS</cp:lastModifiedBy>
  <cp:revision>60</cp:revision>
  <dcterms:created xsi:type="dcterms:W3CDTF">2023-09-27T19:08:34Z</dcterms:created>
  <dcterms:modified xsi:type="dcterms:W3CDTF">2026-07-24T21:56:42Z</dcterms:modified>
</cp:coreProperties>
</file>